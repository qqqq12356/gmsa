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2"/>
  </p:sldMasterIdLst>
  <p:notesMasterIdLst>
    <p:notesMasterId r:id="rId23"/>
  </p:notesMasterIdLst>
  <p:sldIdLst>
    <p:sldId id="256" r:id="rId3"/>
    <p:sldId id="258" r:id="rId4"/>
    <p:sldId id="260" r:id="rId5"/>
    <p:sldId id="285" r:id="rId6"/>
    <p:sldId id="289" r:id="rId7"/>
    <p:sldId id="290" r:id="rId8"/>
    <p:sldId id="291" r:id="rId9"/>
    <p:sldId id="292" r:id="rId10"/>
    <p:sldId id="293" r:id="rId11"/>
    <p:sldId id="294" r:id="rId12"/>
    <p:sldId id="295" r:id="rId13"/>
    <p:sldId id="296" r:id="rId14"/>
    <p:sldId id="273" r:id="rId15"/>
    <p:sldId id="280" r:id="rId16"/>
    <p:sldId id="275" r:id="rId17"/>
    <p:sldId id="276" r:id="rId18"/>
    <p:sldId id="278" r:id="rId19"/>
    <p:sldId id="279" r:id="rId20"/>
    <p:sldId id="277" r:id="rId21"/>
    <p:sldId id="26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1470"/>
    <a:srgbClr val="FEFDFF"/>
    <a:srgbClr val="E1DFE2"/>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52"/>
    <p:restoredTop sz="88665"/>
  </p:normalViewPr>
  <p:slideViewPr>
    <p:cSldViewPr snapToGrid="0" snapToObjects="1">
      <p:cViewPr>
        <p:scale>
          <a:sx n="84" d="100"/>
          <a:sy n="84" d="100"/>
        </p:scale>
        <p:origin x="240" y="744"/>
      </p:cViewPr>
      <p:guideLst/>
    </p:cSldViewPr>
  </p:slideViewPr>
  <p:outlineViewPr>
    <p:cViewPr>
      <p:scale>
        <a:sx n="33" d="100"/>
        <a:sy n="33" d="100"/>
      </p:scale>
      <p:origin x="0" y="-11400"/>
    </p:cViewPr>
  </p:outlineViewPr>
  <p:notesTextViewPr>
    <p:cViewPr>
      <p:scale>
        <a:sx n="110" d="100"/>
        <a:sy n="11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0" i="0" kern="1200" dirty="0">
                <a:solidFill>
                  <a:schemeClr val="tx1"/>
                </a:solidFill>
                <a:effectLst/>
                <a:latin typeface="+mn-lt"/>
                <a:ea typeface="+mn-ea"/>
                <a:cs typeface="+mn-cs"/>
              </a:rPr>
              <a:t>Hello everyone. </a:t>
            </a:r>
            <a:r>
              <a:rPr lang="zh-CN" altLang="zh-CN" sz="1200" b="0" i="0" kern="1200" dirty="0">
                <a:solidFill>
                  <a:schemeClr val="tx1"/>
                </a:solidFill>
                <a:effectLst/>
                <a:latin typeface="+mn-lt"/>
                <a:ea typeface="+mn-ea"/>
                <a:cs typeface="+mn-cs"/>
              </a:rPr>
              <a:t>I am Jingheng Ye, a first-year Ph.D. student at Northeastern University. I received my M.S. degree from Tsinghua University.</a:t>
            </a:r>
            <a:r>
              <a:rPr lang="en-US" altLang="zh-CN"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It's my great honor to present our research today. The paper is titled GMSA: Enhancing Context Compression via Group Merging and Layer Semantic Alignment. This work is supervised by Prof. Hai-Tao Zheng.</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In this talk, I will cover three main parts:</a:t>
            </a:r>
          </a:p>
          <a:p>
            <a:r>
              <a:rPr lang="en" altLang="zh-CN" dirty="0"/>
              <a:t>First, the introduction and motivation of long-context compression.</a:t>
            </a:r>
          </a:p>
          <a:p>
            <a:r>
              <a:rPr lang="en" altLang="zh-CN" dirty="0"/>
              <a:t>Second, the detailed methodology of our GMSA framework.</a:t>
            </a:r>
          </a:p>
          <a:p>
            <a:r>
              <a:rPr lang="en" altLang="zh-CN" dirty="0"/>
              <a:t>Finally, experimental results, analysis, and key conclusions.</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368101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Large language models have achieved great success, but they suffer from two critical challenges in long-context scenarios:</a:t>
            </a:r>
          </a:p>
          <a:p>
            <a:r>
              <a:rPr lang="en" altLang="zh-CN" sz="1200" b="0" kern="1200" dirty="0">
                <a:solidFill>
                  <a:schemeClr val="tx1"/>
                </a:solidFill>
                <a:effectLst/>
                <a:latin typeface="+mn-lt"/>
                <a:ea typeface="+mn-ea"/>
                <a:cs typeface="+mn-cs"/>
              </a:rPr>
              <a:t>First, high computational overhead, due to the quadratic complexity of self-attention.</a:t>
            </a:r>
          </a:p>
          <a:p>
            <a:r>
              <a:rPr lang="en" altLang="zh-CN" sz="1200" b="0" kern="1200" dirty="0">
                <a:solidFill>
                  <a:schemeClr val="tx1"/>
                </a:solidFill>
                <a:effectLst/>
                <a:latin typeface="+mn-lt"/>
                <a:ea typeface="+mn-ea"/>
                <a:cs typeface="+mn-cs"/>
              </a:rPr>
              <a:t>Second, severe information redundancy, which hurts both efficiency and performance.</a:t>
            </a:r>
          </a:p>
          <a:p>
            <a:r>
              <a:rPr lang="en" altLang="zh-CN" sz="1200" b="0" kern="1200" dirty="0">
                <a:solidFill>
                  <a:schemeClr val="tx1"/>
                </a:solidFill>
                <a:effectLst/>
                <a:latin typeface="+mn-lt"/>
                <a:ea typeface="+mn-ea"/>
                <a:cs typeface="+mn-cs"/>
              </a:rPr>
              <a:t>To solve these problems, prompt compression has become a key solution, which is divided into hard compression and soft compression.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A0C4-25EE-5522-3A0A-E29C0F6444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C5F531-D266-FBE8-B752-97F96A81A7B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04258AB-D1FA-EB74-C8B5-86B543AECE94}"/>
              </a:ext>
            </a:extLst>
          </p:cNvPr>
          <p:cNvSpPr>
            <a:spLocks noGrp="1"/>
          </p:cNvSpPr>
          <p:nvPr>
            <p:ph type="body" idx="3"/>
          </p:nvPr>
        </p:nvSpPr>
        <p:spPr/>
        <p:txBody>
          <a:bodyPr/>
          <a:lstStyle/>
          <a:p>
            <a:r>
              <a:rPr lang="en" altLang="zh-CN" sz="1200" b="0" kern="1200" dirty="0">
                <a:solidFill>
                  <a:schemeClr val="tx1"/>
                </a:solidFill>
                <a:effectLst/>
                <a:latin typeface="+mn-lt"/>
                <a:ea typeface="+mn-ea"/>
                <a:cs typeface="+mn-cs"/>
              </a:rPr>
              <a:t>Existing soft prompt compression methods typically work like this:</a:t>
            </a:r>
          </a:p>
          <a:p>
            <a:r>
              <a:rPr lang="en" altLang="zh-CN" sz="1200" b="0" kern="1200" dirty="0">
                <a:solidFill>
                  <a:schemeClr val="tx1"/>
                </a:solidFill>
                <a:effectLst/>
                <a:latin typeface="+mn-lt"/>
                <a:ea typeface="+mn-ea"/>
                <a:cs typeface="+mn-cs"/>
              </a:rPr>
              <a:t>They append several learnable tokens to the input, then let these tokens summarize the context layer by layer.</a:t>
            </a:r>
          </a:p>
          <a:p>
            <a:r>
              <a:rPr lang="en" altLang="zh-CN" sz="1200" b="0" kern="1200" dirty="0">
                <a:solidFill>
                  <a:schemeClr val="tx1"/>
                </a:solidFill>
                <a:effectLst/>
                <a:latin typeface="+mn-lt"/>
                <a:ea typeface="+mn-ea"/>
                <a:cs typeface="+mn-cs"/>
              </a:rPr>
              <a:t>Finally, they either directly use these summary vectors as soft tokens, or pass them through a simple MLP.</a:t>
            </a:r>
          </a:p>
          <a:p>
            <a:r>
              <a:rPr lang="en" altLang="zh-CN" sz="1200" b="0" kern="1200" dirty="0">
                <a:solidFill>
                  <a:schemeClr val="tx1"/>
                </a:solidFill>
                <a:effectLst/>
                <a:latin typeface="+mn-lt"/>
                <a:ea typeface="+mn-ea"/>
                <a:cs typeface="+mn-cs"/>
              </a:rPr>
              <a:t>However, this paradigm has serious limitations.</a:t>
            </a:r>
          </a:p>
        </p:txBody>
      </p:sp>
    </p:spTree>
    <p:extLst>
      <p:ext uri="{BB962C8B-B14F-4D97-AF65-F5344CB8AC3E}">
        <p14:creationId xmlns:p14="http://schemas.microsoft.com/office/powerpoint/2010/main" val="2379769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333CE-A458-4C83-9CAC-4321DA28E2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0D0F5E-1E13-CF75-E446-6AC6100376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551DF4-6CCC-BEA1-E231-3C0C2F416CE0}"/>
              </a:ext>
            </a:extLst>
          </p:cNvPr>
          <p:cNvSpPr>
            <a:spLocks noGrp="1"/>
          </p:cNvSpPr>
          <p:nvPr>
            <p:ph type="body" idx="1"/>
          </p:nvPr>
        </p:nvSpPr>
        <p:spPr/>
        <p:txBody>
          <a:bodyPr/>
          <a:lstStyle/>
          <a:p>
            <a:r>
              <a:rPr lang="en" altLang="zh-CN" sz="1200" kern="1200" dirty="0">
                <a:solidFill>
                  <a:schemeClr val="tx1"/>
                </a:solidFill>
                <a:effectLst/>
                <a:latin typeface="+mn-lt"/>
                <a:ea typeface="+mn-ea"/>
                <a:cs typeface="+mn-cs"/>
              </a:rPr>
              <a:t>However, existing soft prompt compression methods have two limitations: </a:t>
            </a:r>
          </a:p>
          <a:p>
            <a:pPr marL="228600" indent="-228600">
              <a:buAutoNum type="arabicParenBoth"/>
            </a:pPr>
            <a:r>
              <a:rPr lang="en" altLang="zh-CN" sz="1200" kern="1200" dirty="0">
                <a:solidFill>
                  <a:schemeClr val="tx1"/>
                </a:solidFill>
                <a:effectLst/>
                <a:latin typeface="+mn-lt"/>
                <a:ea typeface="+mn-ea"/>
                <a:cs typeface="+mn-cs"/>
              </a:rPr>
              <a:t>Semantic dominance in autoencoder pretraining process. LLM tends to aggregate information on a few anchor tokens. As shown in Figure, in existing soft prompt compression paradigm, the appending randomly initialized tokens (“</a:t>
            </a:r>
            <a:r>
              <a:rPr lang="en" altLang="zh-CN" sz="1200" i="1" kern="1200" dirty="0">
                <a:solidFill>
                  <a:schemeClr val="tx1"/>
                </a:solidFill>
                <a:effectLst/>
                <a:latin typeface="+mn-lt"/>
                <a:ea typeface="+mn-ea"/>
                <a:cs typeface="+mn-cs"/>
              </a:rPr>
              <a:t>&lt;CT1&gt;</a:t>
            </a:r>
            <a:r>
              <a:rPr lang="en" altLang="zh-CN" sz="1200" kern="1200" dirty="0">
                <a:solidFill>
                  <a:schemeClr val="tx1"/>
                </a:solidFill>
                <a:effectLst/>
                <a:latin typeface="+mn-lt"/>
                <a:ea typeface="+mn-ea"/>
                <a:cs typeface="+mn-cs"/>
              </a:rPr>
              <a:t>” and “</a:t>
            </a:r>
            <a:r>
              <a:rPr lang="en" altLang="zh-CN" sz="1200" i="1" kern="1200" dirty="0">
                <a:solidFill>
                  <a:schemeClr val="tx1"/>
                </a:solidFill>
                <a:effectLst/>
                <a:latin typeface="+mn-lt"/>
                <a:ea typeface="+mn-ea"/>
                <a:cs typeface="+mn-cs"/>
              </a:rPr>
              <a:t>&lt;CT2&gt;</a:t>
            </a:r>
            <a:r>
              <a:rPr lang="en" altLang="zh-CN" sz="1200" kern="1200" dirty="0">
                <a:solidFill>
                  <a:schemeClr val="tx1"/>
                </a:solidFill>
                <a:effectLst/>
                <a:latin typeface="+mn-lt"/>
                <a:ea typeface="+mn-ea"/>
                <a:cs typeface="+mn-cs"/>
              </a:rPr>
              <a:t>”) learn summary vectors layer by layer. The semantics of anchor token (“</a:t>
            </a:r>
            <a:r>
              <a:rPr lang="en" altLang="zh-CN" sz="1200" i="1" kern="1200" dirty="0">
                <a:solidFill>
                  <a:schemeClr val="tx1"/>
                </a:solidFill>
                <a:effectLst/>
                <a:latin typeface="+mn-lt"/>
                <a:ea typeface="+mn-ea"/>
                <a:cs typeface="+mn-cs"/>
              </a:rPr>
              <a:t>The</a:t>
            </a:r>
            <a:r>
              <a:rPr lang="en" altLang="zh-CN" sz="1200" kern="1200" dirty="0">
                <a:solidFill>
                  <a:schemeClr val="tx1"/>
                </a:solidFill>
                <a:effectLst/>
                <a:latin typeface="+mn-lt"/>
                <a:ea typeface="+mn-ea"/>
                <a:cs typeface="+mn-cs"/>
              </a:rPr>
              <a:t>”) is emphasized layer by layer, resulting in the semantics of the summary vectors being dominated by it while the semantics of other tokens (“</a:t>
            </a:r>
            <a:r>
              <a:rPr lang="en" altLang="zh-CN" sz="1200" i="1" kern="1200" dirty="0">
                <a:solidFill>
                  <a:schemeClr val="tx1"/>
                </a:solidFill>
                <a:effectLst/>
                <a:latin typeface="+mn-lt"/>
                <a:ea typeface="+mn-ea"/>
                <a:cs typeface="+mn-cs"/>
              </a:rPr>
              <a:t>context</a:t>
            </a:r>
            <a:r>
              <a:rPr lang="en" altLang="zh-CN" sz="1200" kern="1200" dirty="0">
                <a:solidFill>
                  <a:schemeClr val="tx1"/>
                </a:solidFill>
                <a:effectLst/>
                <a:latin typeface="+mn-lt"/>
                <a:ea typeface="+mn-ea"/>
                <a:cs typeface="+mn-cs"/>
              </a:rPr>
              <a:t>”, “</a:t>
            </a:r>
            <a:r>
              <a:rPr lang="en" altLang="zh-CN" sz="1200" i="1" kern="1200" dirty="0">
                <a:solidFill>
                  <a:schemeClr val="tx1"/>
                </a:solidFill>
                <a:effectLst/>
                <a:latin typeface="+mn-lt"/>
                <a:ea typeface="+mn-ea"/>
                <a:cs typeface="+mn-cs"/>
              </a:rPr>
              <a:t>is</a:t>
            </a:r>
            <a:r>
              <a:rPr lang="en" altLang="zh-CN" sz="1200" kern="1200" dirty="0">
                <a:solidFill>
                  <a:schemeClr val="tx1"/>
                </a:solidFill>
                <a:effectLst/>
                <a:latin typeface="+mn-lt"/>
                <a:ea typeface="+mn-ea"/>
                <a:cs typeface="+mn-cs"/>
              </a:rPr>
              <a:t>”, and “</a:t>
            </a:r>
            <a:r>
              <a:rPr lang="en" altLang="zh-CN" sz="1200" i="1" kern="1200" dirty="0">
                <a:solidFill>
                  <a:schemeClr val="tx1"/>
                </a:solidFill>
                <a:effectLst/>
                <a:latin typeface="+mn-lt"/>
                <a:ea typeface="+mn-ea"/>
                <a:cs typeface="+mn-cs"/>
              </a:rPr>
              <a:t>lengthy</a:t>
            </a:r>
            <a:r>
              <a:rPr lang="en" altLang="zh-CN" sz="1200" kern="1200" dirty="0">
                <a:solidFill>
                  <a:schemeClr val="tx1"/>
                </a:solidFill>
                <a:effectLst/>
                <a:latin typeface="+mn-lt"/>
                <a:ea typeface="+mn-ea"/>
                <a:cs typeface="+mn-cs"/>
              </a:rPr>
              <a:t>”) are diluted. This limits the retention of </a:t>
            </a:r>
            <a:r>
              <a:rPr lang="en" altLang="zh-CN" sz="1200" i="1" kern="1200" dirty="0">
                <a:solidFill>
                  <a:schemeClr val="tx1"/>
                </a:solidFill>
                <a:effectLst/>
                <a:latin typeface="+mn-lt"/>
                <a:ea typeface="+mn-ea"/>
                <a:cs typeface="+mn-cs"/>
              </a:rPr>
              <a:t>complete semantics </a:t>
            </a:r>
            <a:r>
              <a:rPr lang="en" altLang="zh-CN" sz="1200" kern="1200" dirty="0">
                <a:solidFill>
                  <a:schemeClr val="tx1"/>
                </a:solidFill>
                <a:effectLst/>
                <a:latin typeface="+mn-lt"/>
                <a:ea typeface="+mn-ea"/>
                <a:cs typeface="+mn-cs"/>
              </a:rPr>
              <a:t>in autoencoder pretraining, which is a common approach in soft prompt compression.</a:t>
            </a:r>
          </a:p>
        </p:txBody>
      </p:sp>
      <p:sp>
        <p:nvSpPr>
          <p:cNvPr id="4" name="灯片编号占位符 3">
            <a:extLst>
              <a:ext uri="{FF2B5EF4-FFF2-40B4-BE49-F238E27FC236}">
                <a16:creationId xmlns:a16="http://schemas.microsoft.com/office/drawing/2014/main" id="{560DCFDC-127A-FC99-1993-EEFCCE0BB144}"/>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2385107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CBF4-00BE-011D-FDE9-A4CB74209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55302C-E944-8033-DCF8-3C9A072EFF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A31635-F864-0DBB-83C4-DEBD81C58C04}"/>
              </a:ext>
            </a:extLst>
          </p:cNvPr>
          <p:cNvSpPr>
            <a:spLocks noGrp="1"/>
          </p:cNvSpPr>
          <p:nvPr>
            <p:ph type="body" idx="1"/>
          </p:nvPr>
        </p:nvSpPr>
        <p:spPr/>
        <p:txBody>
          <a:bodyPr/>
          <a:lstStyle/>
          <a:p>
            <a:r>
              <a:rPr lang="en" altLang="zh-CN" dirty="0"/>
              <a:t>This limitation motivates us a research question: </a:t>
            </a:r>
            <a:r>
              <a:rPr lang="en" altLang="zh-CN" i="1" dirty="0"/>
              <a:t>How to mitigate semantic dominance?</a:t>
            </a:r>
          </a:p>
        </p:txBody>
      </p:sp>
      <p:sp>
        <p:nvSpPr>
          <p:cNvPr id="4" name="灯片编号占位符 3">
            <a:extLst>
              <a:ext uri="{FF2B5EF4-FFF2-40B4-BE49-F238E27FC236}">
                <a16:creationId xmlns:a16="http://schemas.microsoft.com/office/drawing/2014/main" id="{7E6C5B36-D7FC-4022-2880-632FCF711D84}"/>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183822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79976-92A6-BBF6-E7B8-0A313BB55D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D8A7BC-C85B-F658-56EF-97E2743DA7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3CCA4F-5F61-BBD0-2A8B-214EEE48C087}"/>
              </a:ext>
            </a:extLst>
          </p:cNvPr>
          <p:cNvSpPr>
            <a:spLocks noGrp="1"/>
          </p:cNvSpPr>
          <p:nvPr>
            <p:ph type="body" idx="1"/>
          </p:nvPr>
        </p:nvSpPr>
        <p:spPr/>
        <p:txBody>
          <a:bodyPr/>
          <a:lstStyle/>
          <a:p>
            <a:pPr marL="0" indent="0">
              <a:buFontTx/>
              <a:buNone/>
            </a:pPr>
            <a:r>
              <a:rPr lang="en" altLang="zh-CN" dirty="0"/>
              <a:t>(2) Ignoring the Large gap between compressed semantics and input semantics. The summary vectors, which represent high-level abstract semantics, are directly treated as ordinary tokens (i.e., as low-level semantics) and directly fed into the decoder during training and testing, resulting in a large semantic gap.</a:t>
            </a:r>
          </a:p>
          <a:p>
            <a:pPr marL="228600" indent="-228600">
              <a:buAutoNum type="arabicParenBoth"/>
            </a:pPr>
            <a:endParaRPr lang="en" altLang="zh-CN" dirty="0"/>
          </a:p>
          <a:p>
            <a:pPr marL="0" indent="0">
              <a:buNone/>
            </a:pPr>
            <a:endParaRPr lang="en" altLang="zh-CN" dirty="0"/>
          </a:p>
        </p:txBody>
      </p:sp>
      <p:sp>
        <p:nvSpPr>
          <p:cNvPr id="4" name="灯片编号占位符 3">
            <a:extLst>
              <a:ext uri="{FF2B5EF4-FFF2-40B4-BE49-F238E27FC236}">
                <a16:creationId xmlns:a16="http://schemas.microsoft.com/office/drawing/2014/main" id="{3267FCA1-D259-498F-0B0C-938E9CCE4EC2}"/>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143606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F9BF-F794-F3FD-9169-CEAA7DC9E6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CAED11-259D-5F69-2248-6D126A35D4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28EB4C-4A20-D616-332F-D341589812B3}"/>
              </a:ext>
            </a:extLst>
          </p:cNvPr>
          <p:cNvSpPr>
            <a:spLocks noGrp="1"/>
          </p:cNvSpPr>
          <p:nvPr>
            <p:ph type="body" idx="1"/>
          </p:nvPr>
        </p:nvSpPr>
        <p:spPr/>
        <p:txBody>
          <a:bodyPr/>
          <a:lstStyle/>
          <a:p>
            <a:r>
              <a:rPr lang="en" altLang="zh-CN" dirty="0"/>
              <a:t>This limitation motivates us another research question: </a:t>
            </a:r>
            <a:r>
              <a:rPr lang="en" altLang="zh-CN" i="1" dirty="0"/>
              <a:t>How to bridge the semantic gap?</a:t>
            </a:r>
          </a:p>
        </p:txBody>
      </p:sp>
      <p:sp>
        <p:nvSpPr>
          <p:cNvPr id="4" name="灯片编号占位符 3">
            <a:extLst>
              <a:ext uri="{FF2B5EF4-FFF2-40B4-BE49-F238E27FC236}">
                <a16:creationId xmlns:a16="http://schemas.microsoft.com/office/drawing/2014/main" id="{5AB727E9-5FF2-66B1-6CE5-378566EA5DBF}"/>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70361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C089A-E022-6B7A-715C-DBDF7E5DCA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2F5EFE-564A-4E05-D4F4-CE6AF30E776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B92833A-0C09-30B5-34F8-F864DE978E50}"/>
              </a:ext>
            </a:extLst>
          </p:cNvPr>
          <p:cNvSpPr>
            <a:spLocks noGrp="1"/>
          </p:cNvSpPr>
          <p:nvPr>
            <p:ph type="body" idx="3"/>
          </p:nvPr>
        </p:nvSpPr>
        <p:spPr/>
        <p:txBody>
          <a:bodyPr/>
          <a:lstStyle/>
          <a:p>
            <a:r>
              <a:rPr lang="en" altLang="zh-CN" dirty="0"/>
              <a:t>To address these issues, we propose </a:t>
            </a:r>
            <a:r>
              <a:rPr lang="en" altLang="zh-CN" sz="1200" b="0" kern="1200" dirty="0">
                <a:solidFill>
                  <a:schemeClr val="tx1"/>
                </a:solidFill>
                <a:effectLst/>
                <a:latin typeface="+mn-lt"/>
                <a:ea typeface="+mn-ea"/>
                <a:cs typeface="+mn-cs"/>
              </a:rPr>
              <a:t>GMSA</a:t>
            </a:r>
            <a:r>
              <a:rPr lang="en" altLang="zh-CN" dirty="0"/>
              <a:t>.</a:t>
            </a:r>
          </a:p>
          <a:p>
            <a:endParaRPr lang="en" altLang="zh-CN" dirty="0"/>
          </a:p>
          <a:p>
            <a:r>
              <a:rPr lang="en" altLang="zh-CN" dirty="0"/>
              <a:t>The first core module is </a:t>
            </a:r>
            <a:r>
              <a:rPr lang="en" altLang="zh-CN" sz="1200" b="0" kern="1200" dirty="0">
                <a:solidFill>
                  <a:schemeClr val="tx1"/>
                </a:solidFill>
                <a:effectLst/>
                <a:latin typeface="+mn-lt"/>
                <a:ea typeface="+mn-ea"/>
                <a:cs typeface="+mn-cs"/>
              </a:rPr>
              <a:t>Group Merging</a:t>
            </a:r>
            <a:r>
              <a:rPr lang="en" altLang="zh-CN" dirty="0"/>
              <a:t>.</a:t>
            </a:r>
          </a:p>
          <a:p>
            <a:endParaRPr lang="en" altLang="zh-CN" dirty="0"/>
          </a:p>
          <a:p>
            <a:r>
              <a:rPr lang="en" altLang="zh-CN" dirty="0"/>
              <a:t>Instead of appending tokens and letting attention focus on anchors, we split input tokens into </a:t>
            </a:r>
            <a:r>
              <a:rPr lang="en" altLang="zh-CN" sz="1200" b="0" kern="1200" dirty="0">
                <a:solidFill>
                  <a:schemeClr val="tx1"/>
                </a:solidFill>
                <a:effectLst/>
                <a:latin typeface="+mn-lt"/>
                <a:ea typeface="+mn-ea"/>
                <a:cs typeface="+mn-cs"/>
              </a:rPr>
              <a:t>equal-sized groups</a:t>
            </a:r>
            <a:r>
              <a:rPr lang="en" altLang="zh-CN" dirty="0"/>
              <a:t> and compress each group using </a:t>
            </a:r>
            <a:r>
              <a:rPr lang="en" altLang="zh-CN" sz="1200" b="0" kern="1200" dirty="0">
                <a:solidFill>
                  <a:schemeClr val="tx1"/>
                </a:solidFill>
                <a:effectLst/>
                <a:latin typeface="+mn-lt"/>
                <a:ea typeface="+mn-ea"/>
                <a:cs typeface="+mn-cs"/>
              </a:rPr>
              <a:t>average pooling</a:t>
            </a:r>
            <a:r>
              <a:rPr lang="en" altLang="zh-CN" dirty="0"/>
              <a:t>.</a:t>
            </a:r>
            <a:endParaRPr lang="zh-CN" altLang="en-US" dirty="0"/>
          </a:p>
        </p:txBody>
      </p:sp>
    </p:spTree>
    <p:extLst>
      <p:ext uri="{BB962C8B-B14F-4D97-AF65-F5344CB8AC3E}">
        <p14:creationId xmlns:p14="http://schemas.microsoft.com/office/powerpoint/2010/main" val="1865516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FC8E1-F871-DA8E-6A00-E1B8832988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50BEE2-A4E4-1FD6-9E62-D00DA113E2F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CF13DAC-73A8-EA12-3DAD-267328754715}"/>
              </a:ext>
            </a:extLst>
          </p:cNvPr>
          <p:cNvSpPr>
            <a:spLocks noGrp="1"/>
          </p:cNvSpPr>
          <p:nvPr>
            <p:ph type="body" idx="3"/>
          </p:nvPr>
        </p:nvSpPr>
        <p:spPr/>
        <p:txBody>
          <a:bodyPr/>
          <a:lstStyle/>
          <a:p>
            <a:r>
              <a:rPr lang="en-US" altLang="zh-CN" i="1" dirty="0">
                <a:sym typeface="+mn-ea"/>
              </a:rPr>
              <a:t>This uniform aggregation mitigates the dominance of anchor tokens, therefore helping to preserve complete semantics during pretraining.</a:t>
            </a:r>
          </a:p>
        </p:txBody>
      </p:sp>
    </p:spTree>
    <p:extLst>
      <p:ext uri="{BB962C8B-B14F-4D97-AF65-F5344CB8AC3E}">
        <p14:creationId xmlns:p14="http://schemas.microsoft.com/office/powerpoint/2010/main" val="4211032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1E6D-2A5F-993E-B286-20B715BD62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5D6804-38AF-2B49-C14C-9C6AB320AF2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4852E82-6A14-134B-1E8F-2B9A68FCF766}"/>
              </a:ext>
            </a:extLst>
          </p:cNvPr>
          <p:cNvSpPr>
            <a:spLocks noGrp="1"/>
          </p:cNvSpPr>
          <p:nvPr>
            <p:ph type="body" idx="3"/>
          </p:nvPr>
        </p:nvSpPr>
        <p:spPr/>
        <p:txBody>
          <a:bodyPr/>
          <a:lstStyle/>
          <a:p>
            <a:r>
              <a:rPr lang="en" altLang="zh-CN" dirty="0"/>
              <a:t>The second core module is </a:t>
            </a:r>
            <a:r>
              <a:rPr lang="en" altLang="zh-CN" sz="1200" b="0" kern="1200" dirty="0">
                <a:solidFill>
                  <a:schemeClr val="tx1"/>
                </a:solidFill>
                <a:effectLst/>
                <a:latin typeface="+mn-lt"/>
                <a:ea typeface="+mn-ea"/>
                <a:cs typeface="+mn-cs"/>
              </a:rPr>
              <a:t>Layer Semantic Alignment, short for LSA</a:t>
            </a:r>
            <a:r>
              <a:rPr lang="en" altLang="zh-CN" dirty="0"/>
              <a:t>.</a:t>
            </a:r>
          </a:p>
          <a:p>
            <a:endParaRPr lang="en" altLang="zh-CN" dirty="0"/>
          </a:p>
          <a:p>
            <a:r>
              <a:rPr lang="en" altLang="zh-CN" dirty="0"/>
              <a:t>LSA is a lightweight Transformer stack, </a:t>
            </a:r>
            <a:r>
              <a:rPr lang="en" altLang="zh-CN" sz="1200" b="0" kern="1200" dirty="0">
                <a:solidFill>
                  <a:schemeClr val="tx1"/>
                </a:solidFill>
                <a:effectLst/>
                <a:latin typeface="+mn-lt"/>
                <a:ea typeface="+mn-ea"/>
                <a:cs typeface="+mn-cs"/>
              </a:rPr>
              <a:t>initialized with the lower-layer weights of the decoder</a:t>
            </a:r>
            <a:r>
              <a:rPr lang="en" altLang="zh-CN" dirty="0"/>
              <a:t>.</a:t>
            </a:r>
          </a:p>
          <a:p>
            <a:endParaRPr lang="en" altLang="zh-CN" dirty="0"/>
          </a:p>
          <a:p>
            <a:r>
              <a:rPr lang="en" altLang="zh-CN" dirty="0"/>
              <a:t>In this way, it naturally inherits the low-level semantic space of the model.</a:t>
            </a:r>
          </a:p>
        </p:txBody>
      </p:sp>
    </p:spTree>
    <p:extLst>
      <p:ext uri="{BB962C8B-B14F-4D97-AF65-F5344CB8AC3E}">
        <p14:creationId xmlns:p14="http://schemas.microsoft.com/office/powerpoint/2010/main" val="1489201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A3F08-D1BC-DE68-C427-FB043AE50E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1313FA-8023-74FB-6589-65410017BD7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8B7478A-8CC5-91C4-DE97-F0273D554AD9}"/>
              </a:ext>
            </a:extLst>
          </p:cNvPr>
          <p:cNvSpPr>
            <a:spLocks noGrp="1"/>
          </p:cNvSpPr>
          <p:nvPr>
            <p:ph type="body" idx="3"/>
          </p:nvPr>
        </p:nvSpPr>
        <p:spPr/>
        <p:txBody>
          <a:bodyPr/>
          <a:lstStyle/>
          <a:p>
            <a:r>
              <a:rPr lang="en" altLang="zh-CN" sz="1200" i="1" kern="1200" dirty="0">
                <a:solidFill>
                  <a:schemeClr val="tx1"/>
                </a:solidFill>
                <a:effectLst/>
                <a:latin typeface="+mn-lt"/>
                <a:ea typeface="+mn-ea"/>
                <a:cs typeface="+mn-cs"/>
              </a:rPr>
              <a:t>By feeding the summary vectors through LSA, we project them from a high-level semantic space into the lower-level space, which alleviates cross-layer semantic gap.</a:t>
            </a:r>
            <a:endParaRPr lang="en" altLang="zh-CN" dirty="0"/>
          </a:p>
        </p:txBody>
      </p:sp>
    </p:spTree>
    <p:extLst>
      <p:ext uri="{BB962C8B-B14F-4D97-AF65-F5344CB8AC3E}">
        <p14:creationId xmlns:p14="http://schemas.microsoft.com/office/powerpoint/2010/main" val="2181557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GMSA uses a two-stage training pipeline:</a:t>
            </a:r>
          </a:p>
          <a:p>
            <a:r>
              <a:rPr lang="en" altLang="zh-CN" sz="1200" b="0" kern="1200" dirty="0">
                <a:solidFill>
                  <a:schemeClr val="tx1"/>
                </a:solidFill>
                <a:effectLst/>
                <a:latin typeface="+mn-lt"/>
                <a:ea typeface="+mn-ea"/>
                <a:cs typeface="+mn-cs"/>
              </a:rPr>
              <a:t>Stage 1: Autoencoder pretraining. We only train the encoder and LSA to reconstruct the original context, ensuring full semantic preservation.</a:t>
            </a:r>
          </a:p>
          <a:p>
            <a:r>
              <a:rPr lang="en" altLang="zh-CN" sz="1200" b="0" kern="1200" dirty="0">
                <a:solidFill>
                  <a:schemeClr val="tx1"/>
                </a:solidFill>
                <a:effectLst/>
                <a:latin typeface="+mn-lt"/>
                <a:ea typeface="+mn-ea"/>
                <a:cs typeface="+mn-cs"/>
              </a:rPr>
              <a:t>Stage 2: Task-specific fine-tuning. We only train the decoder to adapt compressed representations to downstream tasks like QA and summarization.</a:t>
            </a:r>
          </a:p>
          <a:p>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Our contributions are threefold: (1) We identify and analyze two limitations in existing soft prompt compression paradigm: (</a:t>
            </a:r>
            <a:r>
              <a:rPr lang="en" altLang="zh-CN" sz="1200" kern="1200" dirty="0" err="1">
                <a:solidFill>
                  <a:schemeClr val="tx1"/>
                </a:solidFill>
                <a:effectLst/>
                <a:latin typeface="+mn-lt"/>
                <a:ea typeface="+mn-ea"/>
                <a:cs typeface="+mn-cs"/>
              </a:rPr>
              <a:t>i</a:t>
            </a:r>
            <a:r>
              <a:rPr lang="en" altLang="zh-CN" sz="1200" kern="1200" dirty="0">
                <a:solidFill>
                  <a:schemeClr val="tx1"/>
                </a:solidFill>
                <a:effectLst/>
                <a:latin typeface="+mn-lt"/>
                <a:ea typeface="+mn-ea"/>
                <a:cs typeface="+mn-cs"/>
              </a:rPr>
              <a:t>) semantic dominance in soft prompt compression pretraining process, and (ii) a semantic gap arising from the direct use of high-level summary vectors as decoder inputs. (2) We propose GMSA, a context compression framework that introduces (</a:t>
            </a:r>
            <a:r>
              <a:rPr lang="en" altLang="zh-CN" sz="1200" kern="1200" dirty="0" err="1">
                <a:solidFill>
                  <a:schemeClr val="tx1"/>
                </a:solidFill>
                <a:effectLst/>
                <a:latin typeface="+mn-lt"/>
                <a:ea typeface="+mn-ea"/>
                <a:cs typeface="+mn-cs"/>
              </a:rPr>
              <a:t>i</a:t>
            </a:r>
            <a:r>
              <a:rPr lang="en" altLang="zh-CN" sz="1200" kern="1200" dirty="0">
                <a:solidFill>
                  <a:schemeClr val="tx1"/>
                </a:solidFill>
                <a:effectLst/>
                <a:latin typeface="+mn-lt"/>
                <a:ea typeface="+mn-ea"/>
                <a:cs typeface="+mn-cs"/>
              </a:rPr>
              <a:t>) Group Merging to mitigate semantic dominance in soft compression pretraining process, and (ii) a Layer Semantic Alignment (LSA) module bridges semantic gap. (3) We conduct extensive experiments on context reconstruction, diverse benchmarks, demonstrating that GMSA achieves high semantic fidelity and superior downstream performance compared to baselines, while incurring low end-to-end latency.</a:t>
            </a:r>
            <a:endParaRPr lang="en" altLang="zh-CN" dirty="0"/>
          </a:p>
          <a:p>
            <a:endParaRPr lang="e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first tested how many LSA layers are needed.</a:t>
            </a:r>
          </a:p>
          <a:p>
            <a:endParaRPr lang="en" altLang="zh-CN" dirty="0"/>
          </a:p>
          <a:p>
            <a:r>
              <a:rPr lang="en" altLang="zh-CN" dirty="0"/>
              <a:t>Surprisingly, </a:t>
            </a:r>
            <a:r>
              <a:rPr lang="en" altLang="zh-CN" sz="1200" b="0" kern="1200" dirty="0">
                <a:solidFill>
                  <a:schemeClr val="tx1"/>
                </a:solidFill>
                <a:effectLst/>
                <a:latin typeface="+mn-lt"/>
                <a:ea typeface="+mn-ea"/>
                <a:cs typeface="+mn-cs"/>
              </a:rPr>
              <a:t>only 1 layer of LSA</a:t>
            </a:r>
            <a:r>
              <a:rPr lang="en" altLang="zh-CN" dirty="0"/>
              <a:t> achieves the best performance.</a:t>
            </a:r>
          </a:p>
          <a:p>
            <a:endParaRPr lang="en" altLang="zh-CN" dirty="0"/>
          </a:p>
          <a:p>
            <a:r>
              <a:rPr lang="en" altLang="zh-CN" dirty="0"/>
              <a:t>Deeper LSA layers introduce more high-level semantics and increase alignment difficulty, leading to performance degradation.</a:t>
            </a:r>
          </a:p>
          <a:p>
            <a:endParaRPr lang="en-US" altLang="zh-CN" dirty="0">
              <a:sym typeface="+mn-ea"/>
            </a:endParaRPr>
          </a:p>
          <a:p>
            <a:r>
              <a:rPr lang="en-US" altLang="zh-CN" dirty="0">
                <a:sym typeface="+mn-ea"/>
              </a:rPr>
              <a:t>Therefore, we use one layer of LSA as the default setting in the following experiments.</a:t>
            </a:r>
          </a:p>
        </p:txBody>
      </p:sp>
    </p:spTree>
    <p:extLst>
      <p:ext uri="{BB962C8B-B14F-4D97-AF65-F5344CB8AC3E}">
        <p14:creationId xmlns:p14="http://schemas.microsoft.com/office/powerpoint/2010/main" val="1947007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t>In the context reconstruction task, GMSA–AE performs better than the baseline on both token-level matching metrics and semantic matching metrics.</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evaluated on multiple long-context benchmarks: </a:t>
            </a:r>
            <a:r>
              <a:rPr lang="en" altLang="zh-CN" dirty="0" err="1"/>
              <a:t>NaturalQA</a:t>
            </a:r>
            <a:r>
              <a:rPr lang="en" altLang="zh-CN" dirty="0"/>
              <a:t>, 2WikiMQA, </a:t>
            </a:r>
            <a:r>
              <a:rPr lang="en" altLang="zh-CN" dirty="0" err="1"/>
              <a:t>HotpotQA</a:t>
            </a:r>
            <a:r>
              <a:rPr lang="en" altLang="zh-CN" dirty="0"/>
              <a:t>, </a:t>
            </a:r>
            <a:r>
              <a:rPr lang="en" altLang="zh-CN" dirty="0" err="1"/>
              <a:t>NarrativeQA</a:t>
            </a:r>
            <a:r>
              <a:rPr lang="en" altLang="zh-CN" dirty="0"/>
              <a:t>, and </a:t>
            </a:r>
            <a:r>
              <a:rPr lang="en" altLang="zh-CN" dirty="0" err="1"/>
              <a:t>MultiNews</a:t>
            </a:r>
            <a:r>
              <a:rPr lang="en" altLang="zh-CN" dirty="0"/>
              <a:t>.</a:t>
            </a:r>
          </a:p>
          <a:p>
            <a:endParaRPr lang="en" altLang="zh-CN" dirty="0"/>
          </a:p>
          <a:p>
            <a:r>
              <a:rPr lang="en" altLang="zh-CN" dirty="0"/>
              <a:t>Under both 4× and 8× compression, GMSA </a:t>
            </a:r>
            <a:r>
              <a:rPr lang="en" altLang="zh-CN" sz="1200" b="0" kern="1200" dirty="0">
                <a:solidFill>
                  <a:schemeClr val="tx1"/>
                </a:solidFill>
                <a:effectLst/>
                <a:latin typeface="+mn-lt"/>
                <a:ea typeface="+mn-ea"/>
                <a:cs typeface="+mn-cs"/>
              </a:rPr>
              <a:t>consistently outperforms all baselines</a:t>
            </a:r>
            <a:r>
              <a:rPr lang="en" altLang="zh-CN" dirty="0"/>
              <a:t> including hard compression and state-of-the-art soft compression methods.</a:t>
            </a:r>
          </a:p>
          <a:p>
            <a:endParaRPr lang="en" altLang="zh-CN" dirty="0"/>
          </a:p>
          <a:p>
            <a:r>
              <a:rPr lang="en" altLang="zh-CN" dirty="0"/>
              <a:t>The improvement is significant and stable across </a:t>
            </a:r>
            <a:r>
              <a:rPr lang="en" altLang="zh-CN" dirty="0" err="1"/>
              <a:t>LLaMA</a:t>
            </a:r>
            <a:r>
              <a:rPr lang="en" altLang="zh-CN" dirty="0"/>
              <a:t> and Qwen backbones.</a:t>
            </a:r>
            <a:endParaRPr lang="en-US" altLang="zh-CN"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sz="1200" b="0" kern="1200" dirty="0">
                <a:solidFill>
                  <a:schemeClr val="tx1"/>
                </a:solidFill>
                <a:effectLst/>
                <a:latin typeface="+mn-lt"/>
                <a:ea typeface="+mn-ea"/>
                <a:cs typeface="+mn-cs"/>
              </a:rPr>
              <a:t>In the ablation study, removing any component—autoencoder pretraining, Group Merging, or LSA—causes a huge performance drop.</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This proves every module is indispensable.</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In the stress test up to 32× compression, GMSA maintains the highest and most stable performance, while other baselines degrade rapidly.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We also compared training loss.</a:t>
            </a:r>
          </a:p>
          <a:p>
            <a:endParaRPr lang="en" altLang="zh-CN" dirty="0"/>
          </a:p>
          <a:p>
            <a:r>
              <a:rPr lang="en" altLang="zh-CN" dirty="0"/>
              <a:t>The full GMSA model converges much faster and reaches lower loss in both pretraining and fine-tuning.</a:t>
            </a:r>
          </a:p>
          <a:p>
            <a:endParaRPr lang="en" altLang="zh-CN" dirty="0"/>
          </a:p>
          <a:p>
            <a:r>
              <a:rPr lang="en" altLang="zh-CN" dirty="0"/>
              <a:t>Ablated models suffer from unstable optimization and higher loss, confirming the effectiveness of our design.</a:t>
            </a:r>
            <a:endParaRPr lang="en-US" altLang="zh-CN" dirty="0">
              <a:sym typeface="+mn-ea"/>
            </a:endParaRPr>
          </a:p>
        </p:txBody>
      </p:sp>
    </p:spTree>
    <p:extLst>
      <p:ext uri="{BB962C8B-B14F-4D97-AF65-F5344CB8AC3E}">
        <p14:creationId xmlns:p14="http://schemas.microsoft.com/office/powerpoint/2010/main" val="620883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 altLang="zh-CN" dirty="0"/>
              <a:t>Regarding efficiency, GMSA achieves the </a:t>
            </a:r>
            <a:r>
              <a:rPr lang="en" altLang="zh-CN" sz="1200" b="0" kern="1200" dirty="0">
                <a:solidFill>
                  <a:schemeClr val="tx1"/>
                </a:solidFill>
                <a:effectLst/>
                <a:latin typeface="+mn-lt"/>
                <a:ea typeface="+mn-ea"/>
                <a:cs typeface="+mn-cs"/>
              </a:rPr>
              <a:t>lowest compression latency, inference latency, and end-to-end latency</a:t>
            </a:r>
            <a:r>
              <a:rPr lang="en" altLang="zh-CN" dirty="0"/>
              <a:t>.</a:t>
            </a:r>
          </a:p>
          <a:p>
            <a:endParaRPr lang="en" altLang="zh-CN" dirty="0"/>
          </a:p>
          <a:p>
            <a:r>
              <a:rPr lang="en" altLang="zh-CN" dirty="0"/>
              <a:t>Under 32× compression, it is nearly </a:t>
            </a:r>
            <a:r>
              <a:rPr lang="en" altLang="zh-CN" sz="1200" b="0" kern="1200" dirty="0">
                <a:solidFill>
                  <a:schemeClr val="tx1"/>
                </a:solidFill>
                <a:effectLst/>
                <a:latin typeface="+mn-lt"/>
                <a:ea typeface="+mn-ea"/>
                <a:cs typeface="+mn-cs"/>
              </a:rPr>
              <a:t>5× faster</a:t>
            </a:r>
            <a:r>
              <a:rPr lang="en" altLang="zh-CN" dirty="0"/>
              <a:t> than using the original prompt.</a:t>
            </a:r>
          </a:p>
          <a:p>
            <a:endParaRPr lang="en" altLang="zh-CN" dirty="0"/>
          </a:p>
          <a:p>
            <a:r>
              <a:rPr lang="en" altLang="zh-CN" dirty="0"/>
              <a:t>This makes GMSA both effective and practical for real-world deployment.</a:t>
            </a:r>
            <a:endParaRPr lang="en-US" altLang="zh-CN" dirty="0">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kern="1200" dirty="0">
                <a:solidFill>
                  <a:schemeClr val="tx1"/>
                </a:solidFill>
                <a:effectLst/>
                <a:latin typeface="+mn-lt"/>
                <a:ea typeface="+mn-ea"/>
                <a:cs typeface="+mn-cs"/>
              </a:rPr>
              <a:t>To conclude, we proposed GMSA, a novel context compression framework with two core innovations:</a:t>
            </a:r>
          </a:p>
          <a:p>
            <a:r>
              <a:rPr lang="en" altLang="zh-CN" sz="1200" b="0" kern="1200" dirty="0">
                <a:solidFill>
                  <a:schemeClr val="tx1"/>
                </a:solidFill>
                <a:effectLst/>
                <a:latin typeface="+mn-lt"/>
                <a:ea typeface="+mn-ea"/>
                <a:cs typeface="+mn-cs"/>
              </a:rPr>
              <a:t>1. Group Merging to mitigate semantic dominance.</a:t>
            </a:r>
          </a:p>
          <a:p>
            <a:r>
              <a:rPr lang="en" altLang="zh-CN" sz="1200" b="0" kern="1200" dirty="0">
                <a:solidFill>
                  <a:schemeClr val="tx1"/>
                </a:solidFill>
                <a:effectLst/>
                <a:latin typeface="+mn-lt"/>
                <a:ea typeface="+mn-ea"/>
                <a:cs typeface="+mn-cs"/>
              </a:rPr>
              <a:t>2. Layer Semantic Alignment to bridge the gap between compressed semantics and input semantics.</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GMSA achieves superior performance, strong robustness, and high efficiency.</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Thank you for listening. I’m happy to take any questions.</a:t>
            </a:r>
          </a:p>
          <a:p>
            <a:endParaRPr lang="en"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a:t>
            </a:r>
          </a:p>
          <a:p>
            <a:r>
              <a:rPr lang="zh-CN" altLang="zh-CN" sz="1200" b="1" i="0" kern="1200" dirty="0">
                <a:solidFill>
                  <a:schemeClr val="tx1"/>
                </a:solidFill>
                <a:effectLst/>
                <a:latin typeface="+mn-lt"/>
                <a:ea typeface="+mn-ea"/>
                <a:cs typeface="+mn-cs"/>
              </a:rPr>
              <a:t>Q1. How is the number of layers in LSA determined? If there are too many layers, will it hurt efficiency?</a:t>
            </a:r>
            <a:endParaRPr lang="en-US" altLang="zh-CN" sz="1200" b="1" i="0" kern="1200" dirty="0">
              <a:solidFill>
                <a:schemeClr val="tx1"/>
              </a:solidFill>
              <a:effectLst/>
              <a:latin typeface="+mn-lt"/>
              <a:ea typeface="+mn-ea"/>
              <a:cs typeface="+mn-cs"/>
            </a:endParaRPr>
          </a:p>
          <a:p>
            <a:br>
              <a:rPr lang="zh-CN" altLang="zh-CN" dirty="0"/>
            </a:br>
            <a:r>
              <a:rPr lang="zh-CN" altLang="zh-CN" sz="1200" b="0" i="0" kern="1200" dirty="0">
                <a:solidFill>
                  <a:schemeClr val="tx1"/>
                </a:solidFill>
                <a:effectLst/>
                <a:latin typeface="+mn-lt"/>
                <a:ea typeface="+mn-ea"/>
                <a:cs typeface="+mn-cs"/>
              </a:rPr>
              <a:t>A1. This is a great question. Based on diagnostic experiments using context reconstruction, we found that LSA only needs one layer to achieve strong performance. We believe this is because a single-layer LSA already provides sufficient basic semantic modeling, whereas adding more layers may reduce efficiency by introducing additional computation.</a:t>
            </a:r>
            <a:endParaRPr lang="en-US" altLang="zh-CN" sz="1200" b="0" i="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r>
              <a:rPr lang="zh-CN" altLang="zh-CN" sz="1200" b="1" i="0" kern="1200" dirty="0">
                <a:solidFill>
                  <a:schemeClr val="tx1"/>
                </a:solidFill>
                <a:effectLst/>
                <a:latin typeface="+mn-lt"/>
                <a:ea typeface="+mn-ea"/>
                <a:cs typeface="+mn-cs"/>
              </a:rPr>
              <a:t>Q2. Why does group merging help with the semantic </a:t>
            </a:r>
            <a:r>
              <a:rPr lang="en-US" altLang="zh-CN" sz="1200" b="1" i="0" kern="1200" dirty="0">
                <a:solidFill>
                  <a:schemeClr val="tx1"/>
                </a:solidFill>
                <a:effectLst/>
                <a:latin typeface="+mn-lt"/>
                <a:ea typeface="+mn-ea"/>
                <a:cs typeface="+mn-cs"/>
              </a:rPr>
              <a:t>dominance</a:t>
            </a:r>
            <a:r>
              <a:rPr lang="zh-CN" altLang="zh-CN" sz="1200" b="1" i="0" kern="1200" dirty="0">
                <a:solidFill>
                  <a:schemeClr val="tx1"/>
                </a:solidFill>
                <a:effectLst/>
                <a:latin typeface="+mn-lt"/>
                <a:ea typeface="+mn-ea"/>
                <a:cs typeface="+mn-cs"/>
              </a:rPr>
              <a:t> issue? Do the authors provide further experimental evidence?</a:t>
            </a:r>
            <a:br>
              <a:rPr lang="zh-CN" altLang="zh-CN" dirty="0"/>
            </a:br>
            <a:endParaRPr lang="en-US" altLang="zh-CN" dirty="0"/>
          </a:p>
          <a:p>
            <a:r>
              <a:rPr lang="zh-CN" altLang="zh-CN" sz="1200" b="0" i="0" kern="1200" dirty="0">
                <a:solidFill>
                  <a:schemeClr val="tx1"/>
                </a:solidFill>
                <a:effectLst/>
                <a:latin typeface="+mn-lt"/>
                <a:ea typeface="+mn-ea"/>
                <a:cs typeface="+mn-cs"/>
              </a:rPr>
              <a:t>A2. In the original paper, group merging is described as mitigating—not completely eliminating—semantic occupancy during autoencoder training. We support this rationale mainly from two perspectives:</a:t>
            </a:r>
            <a:br>
              <a:rPr lang="zh-CN" altLang="zh-CN" dirty="0"/>
            </a:br>
            <a:r>
              <a:rPr lang="zh-CN" altLang="zh-CN" sz="1200" b="0" i="0" kern="1200" dirty="0">
                <a:solidFill>
                  <a:schemeClr val="tx1"/>
                </a:solidFill>
                <a:effectLst/>
                <a:latin typeface="+mn-lt"/>
                <a:ea typeface="+mn-ea"/>
                <a:cs typeface="+mn-cs"/>
              </a:rPr>
              <a:t>(1) Compared with appending learnable tokens, compressing via group merging avoids having the anchor tokens’ semantics “occupy” layer by layer, and it naturally treats each token more evenly.</a:t>
            </a:r>
            <a:br>
              <a:rPr lang="zh-CN" altLang="zh-CN" dirty="0"/>
            </a:br>
            <a:r>
              <a:rPr lang="zh-CN" altLang="zh-CN" sz="1200" b="0" i="0" kern="1200" dirty="0">
                <a:solidFill>
                  <a:schemeClr val="tx1"/>
                </a:solidFill>
                <a:effectLst/>
                <a:latin typeface="+mn-lt"/>
                <a:ea typeface="+mn-ea"/>
                <a:cs typeface="+mn-cs"/>
              </a:rPr>
              <a:t>(2) During autoencoder training, we observed that group merging converges much faster and achieves a much lower loss than appending learnable tokens (especially when comparing loss below 1 vs. above 2). From the standpoint of faster convergence and better reconstruction loss, this also indirectly suggests that group merging helps alleviate semantic occupancy.</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200" b="1" i="0" kern="1200" dirty="0">
                <a:solidFill>
                  <a:schemeClr val="tx1"/>
                </a:solidFill>
                <a:effectLst/>
                <a:latin typeface="+mn-lt"/>
                <a:ea typeface="+mn-ea"/>
                <a:cs typeface="+mn-cs"/>
              </a:rPr>
              <a:t>Q3. Some decoder-only text compression methods exist now, such as Beacon. How do encoder-decoder structure compare in terms of advantages?</a:t>
            </a:r>
            <a:endParaRPr lang="en-US" altLang="zh-CN" sz="1200" b="1" i="0" kern="1200" dirty="0">
              <a:solidFill>
                <a:schemeClr val="tx1"/>
              </a:solidFill>
              <a:effectLst/>
              <a:latin typeface="+mn-lt"/>
              <a:ea typeface="+mn-ea"/>
              <a:cs typeface="+mn-cs"/>
            </a:endParaRPr>
          </a:p>
          <a:p>
            <a:br>
              <a:rPr lang="zh-CN" altLang="zh-CN" dirty="0"/>
            </a:br>
            <a:r>
              <a:rPr lang="zh-CN" altLang="zh-CN" sz="1200" b="0" i="0" kern="1200" dirty="0">
                <a:solidFill>
                  <a:schemeClr val="tx1"/>
                </a:solidFill>
                <a:effectLst/>
                <a:latin typeface="+mn-lt"/>
                <a:ea typeface="+mn-ea"/>
                <a:cs typeface="+mn-cs"/>
              </a:rPr>
              <a:t>A3. Thank you for the question. While decoder-only methods can adapt well to today’s mainstream large models, they have the following issues:</a:t>
            </a:r>
            <a:br>
              <a:rPr lang="zh-CN" altLang="zh-CN" dirty="0"/>
            </a:br>
            <a:r>
              <a:rPr lang="zh-CN" altLang="zh-CN" sz="1200" b="0" i="0" kern="1200" dirty="0">
                <a:solidFill>
                  <a:schemeClr val="tx1"/>
                </a:solidFill>
                <a:effectLst/>
                <a:latin typeface="+mn-lt"/>
                <a:ea typeface="+mn-ea"/>
                <a:cs typeface="+mn-cs"/>
              </a:rPr>
              <a:t>(1) The compression model and the generation model must be the same size. When the decoder is already large, this causes extra computational overhead. In contrast, encoder-decoder structures decouple compression from generation: a smaller model can be used for compression while a larger decoder handles generation.</a:t>
            </a:r>
            <a:br>
              <a:rPr lang="zh-CN" altLang="zh-CN" dirty="0"/>
            </a:br>
            <a:r>
              <a:rPr lang="zh-CN" altLang="zh-CN" sz="1200" b="0" i="0" kern="1200" dirty="0">
                <a:solidFill>
                  <a:schemeClr val="tx1"/>
                </a:solidFill>
                <a:effectLst/>
                <a:latin typeface="+mn-lt"/>
                <a:ea typeface="+mn-ea"/>
                <a:cs typeface="+mn-cs"/>
              </a:rPr>
              <a:t>(2) Online computation may be unacceptable in real-time scenarios. For long-text inputs, online computation is unavoidable and consumes significant time, which is unacceptable in real-time applications such as recommendation. Task-agnostic encoder-decoder designs (e.g., GMSA) typically allow offline precomputation of compressed embeddings; online inference then retrieves compressed representations from a cache for the decoder, enabling high real-time performance.</a:t>
            </a:r>
            <a:br>
              <a:rPr lang="zh-CN" altLang="zh-CN" dirty="0"/>
            </a:br>
            <a:r>
              <a:rPr lang="zh-CN" altLang="zh-CN" sz="1200" b="0" i="0" kern="1200" dirty="0">
                <a:solidFill>
                  <a:schemeClr val="tx1"/>
                </a:solidFill>
                <a:effectLst/>
                <a:latin typeface="+mn-lt"/>
                <a:ea typeface="+mn-ea"/>
                <a:cs typeface="+mn-cs"/>
              </a:rPr>
              <a:t>(3) Poor compatibility with acceleration frameworks. Compression strategies tailored for decoder-only models often rely on KV-cache operations and may involve autoregressive compression, which is difficult to integrate into mainstream acceleration systems such as vLLM—leading to limited real-world efficiency. By contrast, GMSA is essentially built from simple arithmetic operations and end-to-end differentiable transformer blocks, making it much easier to fuse with vLLM and unlocking further acceleration potential. As far as I know, the text compression framework most commonly used in industry is a straightforward encoder-decoder structure.</a:t>
            </a:r>
            <a:endParaRPr lang="en" altLang="zh-CN" sz="1200" b="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Q1. LSA</a:t>
            </a:r>
            <a:r>
              <a:rPr lang="zh-CN" altLang="en-US" sz="1200" b="0" kern="1200" dirty="0">
                <a:solidFill>
                  <a:schemeClr val="tx1"/>
                </a:solidFill>
                <a:effectLst/>
                <a:latin typeface="+mn-lt"/>
                <a:ea typeface="+mn-ea"/>
                <a:cs typeface="+mn-cs"/>
              </a:rPr>
              <a:t>的层数如何确定？如果</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的层数太多是否会影响效率？</a:t>
            </a:r>
            <a:endParaRPr lang="en-US" altLang="zh-CN" sz="1200" b="0" kern="1200" dirty="0">
              <a:solidFill>
                <a:schemeClr val="tx1"/>
              </a:solidFill>
              <a:effectLst/>
              <a:latin typeface="+mn-lt"/>
              <a:ea typeface="+mn-ea"/>
              <a:cs typeface="+mn-cs"/>
            </a:endParaRPr>
          </a:p>
          <a:p>
            <a:r>
              <a:rPr lang="en" altLang="zh-CN" sz="1200" b="0" kern="1200" dirty="0">
                <a:solidFill>
                  <a:schemeClr val="tx1"/>
                </a:solidFill>
                <a:effectLst/>
                <a:latin typeface="+mn-lt"/>
                <a:ea typeface="+mn-ea"/>
                <a:cs typeface="+mn-cs"/>
              </a:rPr>
              <a:t>A1. </a:t>
            </a:r>
            <a:r>
              <a:rPr lang="zh-CN" altLang="en-US" sz="1200" b="0" kern="1200" dirty="0">
                <a:solidFill>
                  <a:schemeClr val="tx1"/>
                </a:solidFill>
                <a:effectLst/>
                <a:latin typeface="+mn-lt"/>
                <a:ea typeface="+mn-ea"/>
                <a:cs typeface="+mn-cs"/>
              </a:rPr>
              <a:t>这是一个好问题，我们通过上下文重建的诊断性实验发现，</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只需要一层就能取得好的效果。我们认为这可能是因为</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层</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已具备足够的初级语义，而多层</a:t>
            </a:r>
            <a:r>
              <a:rPr lang="en-US" altLang="zh-CN" sz="1200" b="0" kern="1200" dirty="0">
                <a:solidFill>
                  <a:schemeClr val="tx1"/>
                </a:solidFill>
                <a:effectLst/>
                <a:latin typeface="+mn-lt"/>
                <a:ea typeface="+mn-ea"/>
                <a:cs typeface="+mn-cs"/>
              </a:rPr>
              <a:t>LSA</a:t>
            </a:r>
            <a:r>
              <a:rPr lang="zh-CN" altLang="en-US" sz="1200" b="0" kern="1200" dirty="0">
                <a:solidFill>
                  <a:schemeClr val="tx1"/>
                </a:solidFill>
                <a:effectLst/>
                <a:latin typeface="+mn-lt"/>
                <a:ea typeface="+mn-ea"/>
                <a:cs typeface="+mn-cs"/>
              </a:rPr>
              <a:t>反而可能会因引入更多层数导致效率下降。</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Q2.</a:t>
            </a:r>
            <a:r>
              <a:rPr lang="zh-CN" altLang="en-US" sz="1200" b="0" kern="1200" dirty="0">
                <a:solidFill>
                  <a:schemeClr val="tx1"/>
                </a:solidFill>
                <a:effectLst/>
                <a:latin typeface="+mn-lt"/>
                <a:ea typeface="+mn-ea"/>
                <a:cs typeface="+mn-cs"/>
              </a:rPr>
              <a:t> 为什么分组平均能解决语义占据问题？作者是否有进一步的实验证据</a:t>
            </a: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A2.</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group</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merging</a:t>
            </a:r>
            <a:r>
              <a:rPr lang="zh-CN" altLang="en-US" sz="1200" b="0" kern="1200" dirty="0">
                <a:solidFill>
                  <a:schemeClr val="tx1"/>
                </a:solidFill>
                <a:effectLst/>
                <a:latin typeface="+mn-lt"/>
                <a:ea typeface="+mn-ea"/>
                <a:cs typeface="+mn-cs"/>
              </a:rPr>
              <a:t>，即分组平均，在原文的表述中提到的是能</a:t>
            </a:r>
            <a:r>
              <a:rPr lang="zh-CN" altLang="en-US" sz="1200" b="1" kern="1200" dirty="0">
                <a:solidFill>
                  <a:schemeClr val="tx1"/>
                </a:solidFill>
                <a:effectLst/>
                <a:latin typeface="+mn-lt"/>
                <a:ea typeface="+mn-ea"/>
                <a:cs typeface="+mn-cs"/>
              </a:rPr>
              <a:t>缓解</a:t>
            </a:r>
            <a:r>
              <a:rPr lang="zh-CN" altLang="en-US" sz="1200" b="0" kern="1200" dirty="0">
                <a:solidFill>
                  <a:schemeClr val="tx1"/>
                </a:solidFill>
                <a:effectLst/>
                <a:latin typeface="+mn-lt"/>
                <a:ea typeface="+mn-ea"/>
                <a:cs typeface="+mn-cs"/>
              </a:rPr>
              <a:t>而非彻底解决</a:t>
            </a:r>
            <a:r>
              <a:rPr lang="en-US" altLang="zh-CN" sz="1200" b="0" kern="1200" dirty="0">
                <a:solidFill>
                  <a:schemeClr val="tx1"/>
                </a:solidFill>
                <a:effectLst/>
                <a:latin typeface="+mn-lt"/>
                <a:ea typeface="+mn-ea"/>
                <a:cs typeface="+mn-cs"/>
              </a:rPr>
              <a:t>autoencoder</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training</a:t>
            </a:r>
            <a:r>
              <a:rPr lang="zh-CN" altLang="en-US" sz="1200" b="0" kern="1200" dirty="0">
                <a:solidFill>
                  <a:schemeClr val="tx1"/>
                </a:solidFill>
                <a:effectLst/>
                <a:latin typeface="+mn-lt"/>
                <a:ea typeface="+mn-ea"/>
                <a:cs typeface="+mn-cs"/>
              </a:rPr>
              <a:t>中的语义占据现象。我们主要从两个角度说明这个事情的合理性</a:t>
            </a:r>
            <a:r>
              <a:rPr lang="zh-CN" altLang="en-US" sz="1200" b="0" kern="1200" dirty="0">
                <a:solidFill>
                  <a:schemeClr val="tx1"/>
                </a:solidFill>
                <a:effectLst/>
                <a:latin typeface="+mn-lt"/>
                <a:ea typeface="+mn-ea"/>
                <a:cs typeface="+mn-cs"/>
                <a:sym typeface="Wingdings" pitchFamily="2" charset="2"/>
              </a:rPr>
              <a:t>：（</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）相比于</a:t>
            </a:r>
            <a:r>
              <a:rPr lang="en-US" altLang="zh-CN" sz="1200" b="0" kern="1200" dirty="0">
                <a:solidFill>
                  <a:schemeClr val="tx1"/>
                </a:solidFill>
                <a:effectLst/>
                <a:latin typeface="+mn-lt"/>
                <a:ea typeface="+mn-ea"/>
                <a:cs typeface="+mn-cs"/>
                <a:sym typeface="Wingdings" pitchFamily="2" charset="2"/>
              </a:rPr>
              <a:t>appending</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learnable</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，以</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的方式压缩不会逐层被</a:t>
            </a:r>
            <a:r>
              <a:rPr lang="en-US" altLang="zh-CN" sz="1200" b="0" kern="1200" dirty="0">
                <a:solidFill>
                  <a:schemeClr val="tx1"/>
                </a:solidFill>
                <a:effectLst/>
                <a:latin typeface="+mn-lt"/>
                <a:ea typeface="+mn-ea"/>
                <a:cs typeface="+mn-cs"/>
                <a:sym typeface="Wingdings" pitchFamily="2" charset="2"/>
              </a:rPr>
              <a:t>anchor</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的语义占据，并且天然会更加均匀地对待每一个</a:t>
            </a:r>
            <a:r>
              <a:rPr lang="en-US" altLang="zh-CN" sz="1200" b="0" kern="1200" dirty="0">
                <a:solidFill>
                  <a:schemeClr val="tx1"/>
                </a:solidFill>
                <a:effectLst/>
                <a:latin typeface="+mn-lt"/>
                <a:ea typeface="+mn-ea"/>
                <a:cs typeface="+mn-cs"/>
                <a:sym typeface="Wingdings" pitchFamily="2" charset="2"/>
              </a:rPr>
              <a:t>token</a:t>
            </a:r>
            <a:r>
              <a:rPr lang="zh-CN" altLang="en-US" sz="1200" b="0" kern="1200" dirty="0">
                <a:solidFill>
                  <a:schemeClr val="tx1"/>
                </a:solidFill>
                <a:effectLst/>
                <a:latin typeface="+mn-lt"/>
                <a:ea typeface="+mn-ea"/>
                <a:cs typeface="+mn-cs"/>
                <a:sym typeface="Wingdings" pitchFamily="2" charset="2"/>
              </a:rPr>
              <a:t>。（</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）在</a:t>
            </a:r>
            <a:r>
              <a:rPr lang="en-US" altLang="zh-CN" sz="1200" b="0" kern="1200" dirty="0">
                <a:solidFill>
                  <a:schemeClr val="tx1"/>
                </a:solidFill>
                <a:effectLst/>
                <a:latin typeface="+mn-lt"/>
                <a:ea typeface="+mn-ea"/>
                <a:cs typeface="+mn-cs"/>
                <a:sym typeface="Wingdings" pitchFamily="2" charset="2"/>
              </a:rPr>
              <a:t>autoencoder</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training</a:t>
            </a:r>
            <a:r>
              <a:rPr lang="zh-CN" altLang="en-US" sz="1200" b="0" kern="1200" dirty="0">
                <a:solidFill>
                  <a:schemeClr val="tx1"/>
                </a:solidFill>
                <a:effectLst/>
                <a:latin typeface="+mn-lt"/>
                <a:ea typeface="+mn-ea"/>
                <a:cs typeface="+mn-cs"/>
                <a:sym typeface="Wingdings" pitchFamily="2" charset="2"/>
              </a:rPr>
              <a:t>训练过程中，我们发现使用</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的方式会比</a:t>
            </a:r>
            <a:r>
              <a:rPr lang="en-US" altLang="zh-CN" sz="1200" b="0" kern="1200" dirty="0">
                <a:solidFill>
                  <a:schemeClr val="tx1"/>
                </a:solidFill>
                <a:effectLst/>
                <a:latin typeface="+mn-lt"/>
                <a:ea typeface="+mn-ea"/>
                <a:cs typeface="+mn-cs"/>
                <a:sym typeface="Wingdings" pitchFamily="2" charset="2"/>
              </a:rPr>
              <a:t>appending</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learnable</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tokens</a:t>
            </a:r>
            <a:r>
              <a:rPr lang="zh-CN" altLang="en-US" sz="1200" b="0" kern="1200" dirty="0">
                <a:solidFill>
                  <a:schemeClr val="tx1"/>
                </a:solidFill>
                <a:effectLst/>
                <a:latin typeface="+mn-lt"/>
                <a:ea typeface="+mn-ea"/>
                <a:cs typeface="+mn-cs"/>
                <a:sym typeface="Wingdings" pitchFamily="2" charset="2"/>
              </a:rPr>
              <a:t>损失收敛快特别多、损失低很多（</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以下，与</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以上的比较），所以，从重建损失收敛更快、更好的角度，也可以侧面说明</a:t>
            </a:r>
            <a:r>
              <a:rPr lang="en-US" altLang="zh-CN" sz="1200" b="0" kern="1200" dirty="0">
                <a:solidFill>
                  <a:schemeClr val="tx1"/>
                </a:solidFill>
                <a:effectLst/>
                <a:latin typeface="+mn-lt"/>
                <a:ea typeface="+mn-ea"/>
                <a:cs typeface="+mn-cs"/>
                <a:sym typeface="Wingdings" pitchFamily="2" charset="2"/>
              </a:rPr>
              <a:t>group</a:t>
            </a:r>
            <a:r>
              <a:rPr lang="zh-CN" altLang="en-US" sz="1200" b="0" kern="1200" dirty="0">
                <a:solidFill>
                  <a:schemeClr val="tx1"/>
                </a:solidFill>
                <a:effectLst/>
                <a:latin typeface="+mn-lt"/>
                <a:ea typeface="+mn-ea"/>
                <a:cs typeface="+mn-cs"/>
                <a:sym typeface="Wingdings" pitchFamily="2" charset="2"/>
              </a:rPr>
              <a:t> </a:t>
            </a:r>
            <a:r>
              <a:rPr lang="en-US" altLang="zh-CN" sz="1200" b="0" kern="1200" dirty="0">
                <a:solidFill>
                  <a:schemeClr val="tx1"/>
                </a:solidFill>
                <a:effectLst/>
                <a:latin typeface="+mn-lt"/>
                <a:ea typeface="+mn-ea"/>
                <a:cs typeface="+mn-cs"/>
                <a:sym typeface="Wingdings" pitchFamily="2" charset="2"/>
              </a:rPr>
              <a:t>merging</a:t>
            </a:r>
            <a:r>
              <a:rPr lang="zh-CN" altLang="en-US" sz="1200" b="0" kern="1200" dirty="0">
                <a:solidFill>
                  <a:schemeClr val="tx1"/>
                </a:solidFill>
                <a:effectLst/>
                <a:latin typeface="+mn-lt"/>
                <a:ea typeface="+mn-ea"/>
                <a:cs typeface="+mn-cs"/>
                <a:sym typeface="Wingdings" pitchFamily="2" charset="2"/>
              </a:rPr>
              <a:t>有助于缓解语义占据现象。</a:t>
            </a:r>
            <a:endParaRPr lang="en-US" altLang="zh-CN" sz="1200" b="0" kern="1200" dirty="0">
              <a:solidFill>
                <a:schemeClr val="tx1"/>
              </a:solidFill>
              <a:effectLst/>
              <a:latin typeface="+mn-lt"/>
              <a:ea typeface="+mn-ea"/>
              <a:cs typeface="+mn-cs"/>
              <a:sym typeface="Wingdings" pitchFamily="2" charset="2"/>
            </a:endParaRPr>
          </a:p>
          <a:p>
            <a:endParaRPr lang="en-US" altLang="zh-CN" sz="1200" b="0" kern="1200" dirty="0">
              <a:solidFill>
                <a:schemeClr val="tx1"/>
              </a:solidFill>
              <a:effectLst/>
              <a:latin typeface="+mn-lt"/>
              <a:ea typeface="+mn-ea"/>
              <a:cs typeface="+mn-cs"/>
              <a:sym typeface="Wingdings" pitchFamily="2" charset="2"/>
            </a:endParaRPr>
          </a:p>
          <a:p>
            <a:r>
              <a:rPr lang="en-US" altLang="zh-CN" sz="1200" b="0" kern="1200" dirty="0">
                <a:solidFill>
                  <a:schemeClr val="tx1"/>
                </a:solidFill>
                <a:effectLst/>
                <a:latin typeface="+mn-lt"/>
                <a:ea typeface="+mn-ea"/>
                <a:cs typeface="+mn-cs"/>
                <a:sym typeface="Wingdings" pitchFamily="2" charset="2"/>
              </a:rPr>
              <a:t>Q3. </a:t>
            </a:r>
            <a:r>
              <a:rPr lang="zh-CN" altLang="en-US" sz="1200" b="0" kern="1200" dirty="0">
                <a:solidFill>
                  <a:schemeClr val="tx1"/>
                </a:solidFill>
                <a:effectLst/>
                <a:latin typeface="+mn-lt"/>
                <a:ea typeface="+mn-ea"/>
                <a:cs typeface="+mn-cs"/>
                <a:sym typeface="Wingdings" pitchFamily="2" charset="2"/>
              </a:rPr>
              <a:t>当前会出现一些</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的文本压缩技术，比如</a:t>
            </a:r>
            <a:r>
              <a:rPr lang="en-US" altLang="zh-CN" sz="1200" b="0" kern="1200" dirty="0">
                <a:solidFill>
                  <a:schemeClr val="tx1"/>
                </a:solidFill>
                <a:effectLst/>
                <a:latin typeface="+mn-lt"/>
                <a:ea typeface="+mn-ea"/>
                <a:cs typeface="+mn-cs"/>
                <a:sym typeface="Wingdings" pitchFamily="2" charset="2"/>
              </a:rPr>
              <a:t>beacon</a:t>
            </a:r>
            <a:r>
              <a:rPr lang="zh-CN" altLang="en-US" sz="1200" b="0" kern="1200" dirty="0">
                <a:solidFill>
                  <a:schemeClr val="tx1"/>
                </a:solidFill>
                <a:effectLst/>
                <a:latin typeface="+mn-lt"/>
                <a:ea typeface="+mn-ea"/>
                <a:cs typeface="+mn-cs"/>
                <a:sym typeface="Wingdings" pitchFamily="2" charset="2"/>
              </a:rPr>
              <a:t>，这样的方法可以无缝适配至现有的以</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为主的大模型上，与这样的方法相比，</a:t>
            </a:r>
            <a:r>
              <a:rPr lang="en-US" altLang="zh-CN" sz="1200" b="0" kern="1200" dirty="0">
                <a:solidFill>
                  <a:schemeClr val="tx1"/>
                </a:solidFill>
                <a:effectLst/>
                <a:latin typeface="+mn-lt"/>
                <a:ea typeface="+mn-ea"/>
                <a:cs typeface="+mn-cs"/>
                <a:sym typeface="Wingdings" pitchFamily="2" charset="2"/>
              </a:rPr>
              <a:t>encoder-decoder</a:t>
            </a:r>
            <a:r>
              <a:rPr lang="zh-CN" altLang="en-US" sz="1200" b="0" kern="1200" dirty="0">
                <a:solidFill>
                  <a:schemeClr val="tx1"/>
                </a:solidFill>
                <a:effectLst/>
                <a:latin typeface="+mn-lt"/>
                <a:ea typeface="+mn-ea"/>
                <a:cs typeface="+mn-cs"/>
                <a:sym typeface="Wingdings" pitchFamily="2" charset="2"/>
              </a:rPr>
              <a:t>结构有何优势？</a:t>
            </a:r>
            <a:endParaRPr lang="en-US" altLang="zh-CN" sz="1200" b="0" kern="1200" dirty="0">
              <a:solidFill>
                <a:schemeClr val="tx1"/>
              </a:solidFill>
              <a:effectLst/>
              <a:latin typeface="+mn-lt"/>
              <a:ea typeface="+mn-ea"/>
              <a:cs typeface="+mn-cs"/>
              <a:sym typeface="Wingdings" pitchFamily="2" charset="2"/>
            </a:endParaRPr>
          </a:p>
          <a:p>
            <a:r>
              <a:rPr lang="en-US" altLang="zh-CN" sz="1200" b="0" kern="1200" dirty="0">
                <a:solidFill>
                  <a:schemeClr val="tx1"/>
                </a:solidFill>
                <a:effectLst/>
                <a:latin typeface="+mn-lt"/>
                <a:ea typeface="+mn-ea"/>
                <a:cs typeface="+mn-cs"/>
                <a:sym typeface="Wingdings" pitchFamily="2" charset="2"/>
              </a:rPr>
              <a:t>A3. </a:t>
            </a:r>
            <a:r>
              <a:rPr lang="zh-CN" altLang="en-US" sz="1200" b="0" kern="1200" dirty="0">
                <a:solidFill>
                  <a:schemeClr val="tx1"/>
                </a:solidFill>
                <a:effectLst/>
                <a:latin typeface="+mn-lt"/>
                <a:ea typeface="+mn-ea"/>
                <a:cs typeface="+mn-cs"/>
                <a:sym typeface="Wingdings" pitchFamily="2" charset="2"/>
              </a:rPr>
              <a:t>感谢您的提问。确实</a:t>
            </a:r>
            <a:r>
              <a:rPr lang="en-US" altLang="zh-CN" sz="1200" b="0" kern="1200" dirty="0">
                <a:solidFill>
                  <a:schemeClr val="tx1"/>
                </a:solidFill>
                <a:effectLst/>
                <a:latin typeface="+mn-lt"/>
                <a:ea typeface="+mn-ea"/>
                <a:cs typeface="+mn-cs"/>
                <a:sym typeface="Wingdings" pitchFamily="2" charset="2"/>
              </a:rPr>
              <a:t>decoder-only</a:t>
            </a:r>
            <a:r>
              <a:rPr lang="zh-CN" altLang="en-US" sz="1200" b="0" kern="1200" dirty="0">
                <a:solidFill>
                  <a:schemeClr val="tx1"/>
                </a:solidFill>
                <a:effectLst/>
                <a:latin typeface="+mn-lt"/>
                <a:ea typeface="+mn-ea"/>
                <a:cs typeface="+mn-cs"/>
                <a:sym typeface="Wingdings" pitchFamily="2" charset="2"/>
              </a:rPr>
              <a:t>相关的方法可以较好地适配到当前主流大模型中，但却存在以下问题：（</a:t>
            </a:r>
            <a:r>
              <a:rPr lang="en-US" altLang="zh-CN" sz="1200" b="0" kern="1200" dirty="0">
                <a:solidFill>
                  <a:schemeClr val="tx1"/>
                </a:solidFill>
                <a:effectLst/>
                <a:latin typeface="+mn-lt"/>
                <a:ea typeface="+mn-ea"/>
                <a:cs typeface="+mn-cs"/>
                <a:sym typeface="Wingdings" pitchFamily="2" charset="2"/>
              </a:rPr>
              <a:t>1</a:t>
            </a:r>
            <a:r>
              <a:rPr lang="zh-CN" altLang="en-US" sz="1200" b="0" kern="1200" dirty="0">
                <a:solidFill>
                  <a:schemeClr val="tx1"/>
                </a:solidFill>
                <a:effectLst/>
                <a:latin typeface="+mn-lt"/>
                <a:ea typeface="+mn-ea"/>
                <a:cs typeface="+mn-cs"/>
                <a:sym typeface="Wingdings" pitchFamily="2" charset="2"/>
              </a:rPr>
              <a:t>）压缩与生成模型必须同等大小，这在</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本身比较大时会造成额外的计算开销。而</a:t>
            </a:r>
            <a:r>
              <a:rPr lang="en-US" altLang="zh-CN" sz="1200" b="0" kern="1200" dirty="0">
                <a:solidFill>
                  <a:schemeClr val="tx1"/>
                </a:solidFill>
                <a:effectLst/>
                <a:latin typeface="+mn-lt"/>
                <a:ea typeface="+mn-ea"/>
                <a:cs typeface="+mn-cs"/>
                <a:sym typeface="Wingdings" pitchFamily="2" charset="2"/>
              </a:rPr>
              <a:t>encoder-decoder</a:t>
            </a:r>
            <a:r>
              <a:rPr lang="zh-CN" altLang="en-US" sz="1200" b="0" kern="1200" dirty="0">
                <a:solidFill>
                  <a:schemeClr val="tx1"/>
                </a:solidFill>
                <a:effectLst/>
                <a:latin typeface="+mn-lt"/>
                <a:ea typeface="+mn-ea"/>
                <a:cs typeface="+mn-cs"/>
                <a:sym typeface="Wingdings" pitchFamily="2" charset="2"/>
              </a:rPr>
              <a:t>结构可以解耦压缩模型和</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，可以用较小模型压缩，较大</a:t>
            </a:r>
            <a:r>
              <a:rPr lang="en-US" altLang="zh-CN" sz="1200" b="0" kern="1200" dirty="0">
                <a:solidFill>
                  <a:schemeClr val="tx1"/>
                </a:solidFill>
                <a:effectLst/>
                <a:latin typeface="+mn-lt"/>
                <a:ea typeface="+mn-ea"/>
                <a:cs typeface="+mn-cs"/>
                <a:sym typeface="Wingdings" pitchFamily="2" charset="2"/>
              </a:rPr>
              <a:t>decoder</a:t>
            </a:r>
            <a:r>
              <a:rPr lang="zh-CN" altLang="en-US" sz="1200" b="0" kern="1200" dirty="0">
                <a:solidFill>
                  <a:schemeClr val="tx1"/>
                </a:solidFill>
                <a:effectLst/>
                <a:latin typeface="+mn-lt"/>
                <a:ea typeface="+mn-ea"/>
                <a:cs typeface="+mn-cs"/>
                <a:sym typeface="Wingdings" pitchFamily="2" charset="2"/>
              </a:rPr>
              <a:t>生成。（</a:t>
            </a:r>
            <a:r>
              <a:rPr lang="en-US" altLang="zh-CN" sz="1200" b="0" kern="1200" dirty="0">
                <a:solidFill>
                  <a:schemeClr val="tx1"/>
                </a:solidFill>
                <a:effectLst/>
                <a:latin typeface="+mn-lt"/>
                <a:ea typeface="+mn-ea"/>
                <a:cs typeface="+mn-cs"/>
                <a:sym typeface="Wingdings" pitchFamily="2" charset="2"/>
              </a:rPr>
              <a:t>2</a:t>
            </a:r>
            <a:r>
              <a:rPr lang="zh-CN" altLang="en-US" sz="1200" b="0" kern="1200" dirty="0">
                <a:solidFill>
                  <a:schemeClr val="tx1"/>
                </a:solidFill>
                <a:effectLst/>
                <a:latin typeface="+mn-lt"/>
                <a:ea typeface="+mn-ea"/>
                <a:cs typeface="+mn-cs"/>
                <a:sym typeface="Wingdings" pitchFamily="2" charset="2"/>
              </a:rPr>
              <a:t>）</a:t>
            </a:r>
            <a:endParaRPr lang="en-US" altLang="zh-CN" sz="1200" b="0" kern="1200" dirty="0">
              <a:solidFill>
                <a:schemeClr val="tx1"/>
              </a:solidFill>
              <a:effectLst/>
              <a:latin typeface="+mn-lt"/>
              <a:ea typeface="+mn-ea"/>
              <a:cs typeface="+mn-cs"/>
            </a:endParaRPr>
          </a:p>
          <a:p>
            <a:r>
              <a:rPr lang="zh-CN" altLang="en" sz="1200" b="0" kern="1200" dirty="0">
                <a:solidFill>
                  <a:schemeClr val="tx1"/>
                </a:solidFill>
                <a:effectLst/>
                <a:latin typeface="+mn-lt"/>
                <a:ea typeface="+mn-ea"/>
                <a:cs typeface="+mn-cs"/>
              </a:rPr>
              <a:t>需要</a:t>
            </a:r>
            <a:r>
              <a:rPr lang="zh-CN" altLang="en-US" sz="1200" b="0" kern="1200" dirty="0">
                <a:solidFill>
                  <a:schemeClr val="tx1"/>
                </a:solidFill>
                <a:effectLst/>
                <a:latin typeface="+mn-lt"/>
                <a:ea typeface="+mn-ea"/>
                <a:cs typeface="+mn-cs"/>
              </a:rPr>
              <a:t>在线计算、在实时性要求高的场景可能不可接受。长文本场景下的在线计算不可避免地会消耗较多时间，这在实时性要求高的场景，如推荐，是不可接受的。而任务无关类的</a:t>
            </a:r>
            <a:r>
              <a:rPr lang="en-US" altLang="zh-CN" sz="1200" b="0" kern="1200" dirty="0">
                <a:solidFill>
                  <a:schemeClr val="tx1"/>
                </a:solidFill>
                <a:effectLst/>
                <a:latin typeface="+mn-lt"/>
                <a:ea typeface="+mn-ea"/>
                <a:cs typeface="+mn-cs"/>
              </a:rPr>
              <a:t>encoder-decoder</a:t>
            </a:r>
            <a:r>
              <a:rPr lang="zh-CN" altLang="en-US" sz="1200" b="0" kern="1200" dirty="0">
                <a:solidFill>
                  <a:schemeClr val="tx1"/>
                </a:solidFill>
                <a:effectLst/>
                <a:latin typeface="+mn-lt"/>
                <a:ea typeface="+mn-ea"/>
                <a:cs typeface="+mn-cs"/>
              </a:rPr>
              <a:t>结构，如</a:t>
            </a:r>
            <a:r>
              <a:rPr lang="en-US" altLang="zh-CN" sz="1200" b="0" kern="1200" dirty="0">
                <a:solidFill>
                  <a:schemeClr val="tx1"/>
                </a:solidFill>
                <a:effectLst/>
                <a:latin typeface="+mn-lt"/>
                <a:ea typeface="+mn-ea"/>
                <a:cs typeface="+mn-cs"/>
              </a:rPr>
              <a:t>GMSA</a:t>
            </a:r>
            <a:r>
              <a:rPr lang="zh-CN" altLang="en-US" sz="1200" b="0" kern="1200" dirty="0">
                <a:solidFill>
                  <a:schemeClr val="tx1"/>
                </a:solidFill>
                <a:effectLst/>
                <a:latin typeface="+mn-lt"/>
                <a:ea typeface="+mn-ea"/>
                <a:cs typeface="+mn-cs"/>
              </a:rPr>
              <a:t>，往往支持离线先计算出</a:t>
            </a:r>
            <a:r>
              <a:rPr lang="en-US" altLang="zh-CN" sz="1200" b="0" kern="1200" dirty="0">
                <a:solidFill>
                  <a:schemeClr val="tx1"/>
                </a:solidFill>
                <a:effectLst/>
                <a:latin typeface="+mn-lt"/>
                <a:ea typeface="+mn-ea"/>
                <a:cs typeface="+mn-cs"/>
              </a:rPr>
              <a:t>compressed</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embeddings</a:t>
            </a:r>
            <a:r>
              <a:rPr lang="zh-CN" altLang="en-US" sz="1200" b="0" kern="1200" dirty="0">
                <a:solidFill>
                  <a:schemeClr val="tx1"/>
                </a:solidFill>
                <a:effectLst/>
                <a:latin typeface="+mn-lt"/>
                <a:ea typeface="+mn-ea"/>
                <a:cs typeface="+mn-cs"/>
              </a:rPr>
              <a:t>，线上使用时召回库中的压缩表示用于</a:t>
            </a:r>
            <a:r>
              <a:rPr lang="en-US" altLang="zh-CN" sz="1200" b="0" kern="1200" dirty="0">
                <a:solidFill>
                  <a:schemeClr val="tx1"/>
                </a:solidFill>
                <a:effectLst/>
                <a:latin typeface="+mn-lt"/>
                <a:ea typeface="+mn-ea"/>
                <a:cs typeface="+mn-cs"/>
              </a:rPr>
              <a:t>decoder</a:t>
            </a:r>
            <a:r>
              <a:rPr lang="zh-CN" altLang="en-US" sz="1200" b="0" kern="1200" dirty="0">
                <a:solidFill>
                  <a:schemeClr val="tx1"/>
                </a:solidFill>
                <a:effectLst/>
                <a:latin typeface="+mn-lt"/>
                <a:ea typeface="+mn-ea"/>
                <a:cs typeface="+mn-cs"/>
              </a:rPr>
              <a:t>。这种方式能支持高实时性的场景。（</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）与加速框架的兼容性欠佳。能适配到</a:t>
            </a:r>
            <a:r>
              <a:rPr lang="en-US" altLang="zh-CN" sz="1200" b="0" kern="1200" dirty="0">
                <a:solidFill>
                  <a:schemeClr val="tx1"/>
                </a:solidFill>
                <a:effectLst/>
                <a:latin typeface="+mn-lt"/>
                <a:ea typeface="+mn-ea"/>
                <a:cs typeface="+mn-cs"/>
              </a:rPr>
              <a:t>decoder-only</a:t>
            </a:r>
            <a:r>
              <a:rPr lang="zh-CN" altLang="en-US" sz="1200" b="0" kern="1200" dirty="0">
                <a:solidFill>
                  <a:schemeClr val="tx1"/>
                </a:solidFill>
                <a:effectLst/>
                <a:latin typeface="+mn-lt"/>
                <a:ea typeface="+mn-ea"/>
                <a:cs typeface="+mn-cs"/>
              </a:rPr>
              <a:t>模型的压缩策略往往涉及</a:t>
            </a:r>
            <a:r>
              <a:rPr lang="en-US" altLang="zh-CN" sz="1200" b="0" kern="1200" dirty="0" err="1">
                <a:solidFill>
                  <a:schemeClr val="tx1"/>
                </a:solidFill>
                <a:effectLst/>
                <a:latin typeface="+mn-lt"/>
                <a:ea typeface="+mn-ea"/>
                <a:cs typeface="+mn-cs"/>
              </a:rPr>
              <a:t>kv</a:t>
            </a:r>
            <a:r>
              <a:rPr lang="en-US" altLang="zh-CN" sz="1200" b="0" kern="1200" dirty="0">
                <a:solidFill>
                  <a:schemeClr val="tx1"/>
                </a:solidFill>
                <a:effectLst/>
                <a:latin typeface="+mn-lt"/>
                <a:ea typeface="+mn-ea"/>
                <a:cs typeface="+mn-cs"/>
              </a:rPr>
              <a:t>-cache</a:t>
            </a:r>
            <a:r>
              <a:rPr lang="zh-CN" altLang="en-US" sz="1200" b="0" kern="1200" dirty="0">
                <a:solidFill>
                  <a:schemeClr val="tx1"/>
                </a:solidFill>
                <a:effectLst/>
                <a:latin typeface="+mn-lt"/>
                <a:ea typeface="+mn-ea"/>
                <a:cs typeface="+mn-cs"/>
              </a:rPr>
              <a:t>操作，且通常会涉及自回归压缩，这样的操作策略难以融合到主流加速框架，如</a:t>
            </a:r>
            <a:r>
              <a:rPr lang="en-US" altLang="zh-CN" sz="1200" b="0" kern="1200" dirty="0" err="1">
                <a:solidFill>
                  <a:schemeClr val="tx1"/>
                </a:solidFill>
                <a:effectLst/>
                <a:latin typeface="+mn-lt"/>
                <a:ea typeface="+mn-ea"/>
                <a:cs typeface="+mn-cs"/>
              </a:rPr>
              <a:t>vllm</a:t>
            </a:r>
            <a:r>
              <a:rPr lang="zh-CN" altLang="en-US" sz="1200" b="0" kern="1200" dirty="0">
                <a:solidFill>
                  <a:schemeClr val="tx1"/>
                </a:solidFill>
                <a:effectLst/>
                <a:latin typeface="+mn-lt"/>
                <a:ea typeface="+mn-ea"/>
                <a:cs typeface="+mn-cs"/>
              </a:rPr>
              <a:t>中，从而在实际场景中的效率难以较高。而</a:t>
            </a:r>
            <a:r>
              <a:rPr lang="en-US" altLang="zh-CN" sz="1200" b="0" kern="1200" dirty="0">
                <a:solidFill>
                  <a:schemeClr val="tx1"/>
                </a:solidFill>
                <a:effectLst/>
                <a:latin typeface="+mn-lt"/>
                <a:ea typeface="+mn-ea"/>
                <a:cs typeface="+mn-cs"/>
              </a:rPr>
              <a:t>GMSA</a:t>
            </a:r>
            <a:r>
              <a:rPr lang="zh-CN" altLang="en-US" sz="1200" b="0" kern="1200" dirty="0">
                <a:solidFill>
                  <a:schemeClr val="tx1"/>
                </a:solidFill>
                <a:effectLst/>
                <a:latin typeface="+mn-lt"/>
                <a:ea typeface="+mn-ea"/>
                <a:cs typeface="+mn-cs"/>
              </a:rPr>
              <a:t>本质上由简单的算术操作和端到端可导的</a:t>
            </a:r>
            <a:r>
              <a:rPr lang="en-US" altLang="zh-CN" sz="1200" b="0" kern="1200" dirty="0">
                <a:solidFill>
                  <a:schemeClr val="tx1"/>
                </a:solidFill>
                <a:effectLst/>
                <a:latin typeface="+mn-lt"/>
                <a:ea typeface="+mn-ea"/>
                <a:cs typeface="+mn-cs"/>
              </a:rPr>
              <a:t>transformer</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block</a:t>
            </a:r>
            <a:r>
              <a:rPr lang="zh-CN" altLang="en-US" sz="1200" b="0" kern="1200" dirty="0">
                <a:solidFill>
                  <a:schemeClr val="tx1"/>
                </a:solidFill>
                <a:effectLst/>
                <a:latin typeface="+mn-lt"/>
                <a:ea typeface="+mn-ea"/>
                <a:cs typeface="+mn-cs"/>
              </a:rPr>
              <a:t>组成，能很方便地与</a:t>
            </a:r>
            <a:r>
              <a:rPr lang="en-US" altLang="zh-CN" sz="1200" b="0" kern="1200" dirty="0" err="1">
                <a:solidFill>
                  <a:schemeClr val="tx1"/>
                </a:solidFill>
                <a:effectLst/>
                <a:latin typeface="+mn-lt"/>
                <a:ea typeface="+mn-ea"/>
                <a:cs typeface="+mn-cs"/>
              </a:rPr>
              <a:t>vllm</a:t>
            </a:r>
            <a:r>
              <a:rPr lang="zh-CN" altLang="en-US" sz="1200" b="0" kern="1200" dirty="0">
                <a:solidFill>
                  <a:schemeClr val="tx1"/>
                </a:solidFill>
                <a:effectLst/>
                <a:latin typeface="+mn-lt"/>
                <a:ea typeface="+mn-ea"/>
                <a:cs typeface="+mn-cs"/>
              </a:rPr>
              <a:t>融合，从而进一步释放加速的潜力。据我了解，目前工业界主要采用的文本压缩框架就是简单的</a:t>
            </a:r>
            <a:r>
              <a:rPr lang="en-US" altLang="zh-CN" sz="1200" b="0" kern="1200" dirty="0">
                <a:solidFill>
                  <a:schemeClr val="tx1"/>
                </a:solidFill>
                <a:effectLst/>
                <a:latin typeface="+mn-lt"/>
                <a:ea typeface="+mn-ea"/>
                <a:cs typeface="+mn-cs"/>
              </a:rPr>
              <a:t>encoder-decoder</a:t>
            </a:r>
            <a:r>
              <a:rPr lang="zh-CN" altLang="en-US" sz="1200" b="0" kern="1200" dirty="0">
                <a:solidFill>
                  <a:schemeClr val="tx1"/>
                </a:solidFill>
                <a:effectLst/>
                <a:latin typeface="+mn-lt"/>
                <a:ea typeface="+mn-ea"/>
                <a:cs typeface="+mn-cs"/>
              </a:rPr>
              <a:t>结构。</a:t>
            </a:r>
            <a:endParaRPr lang="en" altLang="zh-CN" sz="1200" b="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endParaRPr lang="en" altLang="zh-CN" sz="1200" b="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656173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pic>
        <p:nvPicPr>
          <p:cNvPr id="10" name="图片 9"/>
          <p:cNvPicPr>
            <a:picLocks noChangeAspect="1"/>
          </p:cNvPicPr>
          <p:nvPr userDrawn="1"/>
        </p:nvPicPr>
        <p:blipFill>
          <a:blip r:embed="rId2"/>
          <a:stretch>
            <a:fillRect/>
          </a:stretch>
        </p:blipFill>
        <p:spPr>
          <a:xfrm>
            <a:off x="459200" y="275794"/>
            <a:ext cx="2519770" cy="992105"/>
          </a:xfrm>
          <a:prstGeom prst="rect">
            <a:avLst/>
          </a:prstGeom>
        </p:spPr>
      </p:pic>
      <p:sp>
        <p:nvSpPr>
          <p:cNvPr id="9"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2026/6/28</a:t>
            </a:fld>
            <a:endParaRPr kumimoji="1" lang="zh-CN" altLang="en-US"/>
          </a:p>
        </p:txBody>
      </p:sp>
      <p:sp>
        <p:nvSpPr>
          <p:cNvPr id="11"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12"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4" name="Rectangle 6"/>
          <p:cNvSpPr>
            <a:spLocks noChangeAspect="1"/>
          </p:cNvSpPr>
          <p:nvPr userDrawn="1"/>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12" name="Title 1"/>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dirty="0"/>
              <a:t>单击此处编辑母版标题样式</a:t>
            </a:r>
            <a:endParaRPr lang="en-US" dirty="0"/>
          </a:p>
        </p:txBody>
      </p:sp>
      <p:sp>
        <p:nvSpPr>
          <p:cNvPr id="9" name="Content Placeholder 2"/>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pic>
        <p:nvPicPr>
          <p:cNvPr id="10" name="图片 9"/>
          <p:cNvPicPr>
            <a:picLocks noChangeAspect="1"/>
          </p:cNvPicPr>
          <p:nvPr userDrawn="1"/>
        </p:nvPicPr>
        <p:blipFill>
          <a:blip r:embed="rId2"/>
          <a:stretch>
            <a:fillRect/>
          </a:stretch>
        </p:blipFill>
        <p:spPr>
          <a:xfrm>
            <a:off x="92600" y="92600"/>
            <a:ext cx="1015763" cy="101955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p:cNvPicPr>
            <a:picLocks noChangeAspect="1"/>
          </p:cNvPicPr>
          <p:nvPr userDrawn="1"/>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10" name="Date Placeholder 4"/>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2026/6/28</a:t>
            </a:fld>
            <a:endParaRPr kumimoji="1" lang="zh-CN" altLang="en-US" dirty="0"/>
          </a:p>
        </p:txBody>
      </p:sp>
      <p:sp>
        <p:nvSpPr>
          <p:cNvPr id="11" name="Footer Placeholder 5"/>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kumimoji="1" lang="zh-CN" altLang="en-US"/>
          </a:p>
        </p:txBody>
      </p:sp>
      <p:sp>
        <p:nvSpPr>
          <p:cNvPr id="12"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5"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1" name="Rectangle 7"/>
          <p:cNvSpPr>
            <a:spLocks noChangeAspect="1"/>
          </p:cNvSpPr>
          <p:nvPr userDrawn="1"/>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2026/6/28</a:t>
            </a:fld>
            <a:endParaRPr kumimoji="1" lang="zh-CN" alt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pic>
        <p:nvPicPr>
          <p:cNvPr id="10" name="图片 9"/>
          <p:cNvPicPr>
            <a:picLocks noChangeAspect="1"/>
          </p:cNvPicPr>
          <p:nvPr userDrawn="1"/>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2026/6/28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dirty="0"/>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2026/6/28</a:t>
            </a:fld>
            <a:endParaRPr kumimoji="1" lang="zh-CN" altLang="en-US"/>
          </a:p>
        </p:txBody>
      </p:sp>
      <p:sp>
        <p:nvSpPr>
          <p:cNvPr id="5" name="Footer Placeholder 4"/>
          <p:cNvSpPr>
            <a:spLocks noGrp="1"/>
          </p:cNvSpPr>
          <p:nvPr>
            <p:ph type="ftr" sz="quarter" idx="11"/>
          </p:nvPr>
        </p:nvSpPr>
        <p:spPr>
          <a:xfrm>
            <a:off x="774925" y="5951813"/>
            <a:ext cx="7896279" cy="365125"/>
          </a:xfrm>
        </p:spPr>
        <p:txBody>
          <a:bodyPr/>
          <a:lstStyle/>
          <a:p>
            <a:endParaRPr kumimoji="1"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pic>
        <p:nvPicPr>
          <p:cNvPr id="10" name="图片 9"/>
          <p:cNvPicPr>
            <a:picLocks noChangeAspect="1"/>
          </p:cNvPicPr>
          <p:nvPr userDrawn="1"/>
        </p:nvPicPr>
        <p:blipFill>
          <a:blip r:embed="rId2"/>
          <a:stretch>
            <a:fillRect/>
          </a:stretch>
        </p:blipFill>
        <p:spPr>
          <a:xfrm>
            <a:off x="11083637" y="92600"/>
            <a:ext cx="1015763" cy="101955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p:cNvSpPr>
            <a:spLocks noChangeAspect="1"/>
          </p:cNvSpPr>
          <p:nvPr userDrawn="1"/>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2026/6/28</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
        <p:nvSpPr>
          <p:cNvPr id="11" name="Rectangle 6"/>
          <p:cNvSpPr>
            <a:spLocks noChangeAspect="1"/>
          </p:cNvSpPr>
          <p:nvPr userDrawn="1"/>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0" name="图片 9"/>
          <p:cNvPicPr>
            <a:picLocks noChangeAspect="1"/>
          </p:cNvPicPr>
          <p:nvPr userDrawn="1"/>
        </p:nvPicPr>
        <p:blipFill>
          <a:blip r:embed="rId14"/>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3.xml"/><Relationship Id="rId7" Type="http://schemas.openxmlformats.org/officeDocument/2006/relationships/image" Target="../media/image2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8.xml"/><Relationship Id="rId5" Type="http://schemas.openxmlformats.org/officeDocument/2006/relationships/slideLayout" Target="../slideLayouts/slideLayout2.xml"/><Relationship Id="rId10" Type="http://schemas.openxmlformats.org/officeDocument/2006/relationships/image" Target="../media/image5.svg"/><Relationship Id="rId4" Type="http://schemas.openxmlformats.org/officeDocument/2006/relationships/tags" Target="../tags/tag4.xml"/><Relationship Id="rId9"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ctrTitle"/>
          </p:nvPr>
        </p:nvSpPr>
        <p:spPr>
          <a:xfrm>
            <a:off x="421159" y="1314691"/>
            <a:ext cx="11349681" cy="1557998"/>
          </a:xfrm>
        </p:spPr>
        <p:txBody>
          <a:bodyPr>
            <a:normAutofit/>
          </a:bodyPr>
          <a:lstStyle/>
          <a:p>
            <a:r>
              <a:rPr lang="en-GB" altLang="zh-CN" sz="3200" dirty="0"/>
              <a:t>﻿</a:t>
            </a:r>
            <a:r>
              <a:rPr lang="en-US" altLang="zh-CN" sz="2800" b="1" dirty="0">
                <a:latin typeface="Helvetica" pitchFamily="2" charset="0"/>
              </a:rPr>
              <a:t>GMSA: Enhancing Context Compression via Group Merging and Layer Semantic Alignment</a:t>
            </a:r>
            <a:endParaRPr lang="en-US" altLang="zh-CN" sz="2400" b="1" dirty="0">
              <a:latin typeface="Helvetica" pitchFamily="2" charset="0"/>
            </a:endParaRPr>
          </a:p>
        </p:txBody>
      </p:sp>
      <p:sp>
        <p:nvSpPr>
          <p:cNvPr id="9" name="标题 1"/>
          <p:cNvSpPr txBox="1"/>
          <p:nvPr/>
        </p:nvSpPr>
        <p:spPr>
          <a:xfrm>
            <a:off x="522759" y="2674066"/>
            <a:ext cx="11349681" cy="556121"/>
          </a:xfrm>
          <a:prstGeom prst="rect">
            <a:avLst/>
          </a:prstGeom>
        </p:spPr>
        <p:txBody>
          <a:bodyPr vert="horz" lIns="91440" tIns="45720" rIns="91440" bIns="45720" rtlCol="0" anchor="ctr" anchorCtr="0">
            <a:normAutofit fontScale="92500" lnSpcReduction="20000"/>
          </a:bodyPr>
          <a:lstStyle>
            <a:lvl1pPr marL="0" marR="0" indent="0" algn="ctr" defTabSz="914400" rtl="0" eaLnBrk="1" fontAlgn="auto" latinLnBrk="0" hangingPunct="1">
              <a:lnSpc>
                <a:spcPct val="100000"/>
              </a:lnSpc>
              <a:spcBef>
                <a:spcPts val="0"/>
              </a:spcBef>
              <a:spcAft>
                <a:spcPts val="0"/>
              </a:spcAft>
              <a:buClrTx/>
              <a:buSzTx/>
              <a:buFontTx/>
              <a:buNone/>
              <a:defRPr sz="5000" b="1" kern="1200" spc="300" baseline="0">
                <a:solidFill>
                  <a:schemeClr val="bg1"/>
                </a:solidFill>
                <a:latin typeface="Arial" panose="020B0604020202090204" pitchFamily="34" charset="0"/>
                <a:ea typeface="微软雅黑" charset="-122"/>
                <a:cs typeface="Arial" panose="020B0604020202090204" pitchFamily="34" charset="0"/>
              </a:defRPr>
            </a:lvl1pPr>
          </a:lstStyle>
          <a:p>
            <a:pPr>
              <a:lnSpc>
                <a:spcPct val="120000"/>
              </a:lnSpc>
            </a:pPr>
            <a:r>
              <a:rPr lang="en-US" altLang="zh-CN" sz="1600" b="0" i="1" dirty="0">
                <a:latin typeface="Helvetica" pitchFamily="2" charset="0"/>
                <a:ea typeface="+mn-ea"/>
                <a:cs typeface="Arial Italic" panose="020B0604020202090204" charset="0"/>
              </a:rPr>
              <a:t>Jiwei Tang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Zhicheng Zhang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Shunlong Wu</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Jingheng Ye</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Lichen Bai</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Zitai Wang</a:t>
            </a:r>
            <a:r>
              <a:rPr lang="en-US" altLang="zh-CN" sz="1600" b="0" i="1" baseline="30000" dirty="0">
                <a:latin typeface="Helvetica" pitchFamily="2" charset="0"/>
                <a:ea typeface="+mn-ea"/>
                <a:cs typeface="Arial Italic" panose="020B0604020202090204" charset="0"/>
              </a:rPr>
              <a:t>1</a:t>
            </a:r>
            <a:r>
              <a:rPr lang="en-US" altLang="zh-CN" sz="1600" b="0" i="1" dirty="0">
                <a:latin typeface="Helvetica" pitchFamily="2" charset="0"/>
                <a:ea typeface="+mn-ea"/>
                <a:cs typeface="Arial Italic" panose="020B0604020202090204" charset="0"/>
              </a:rPr>
              <a:t>, Tingwei Lu</a:t>
            </a:r>
            <a:r>
              <a:rPr lang="en-US" altLang="zh-CN" sz="1600" b="0" i="1" baseline="30000" dirty="0">
                <a:latin typeface="Helvetica" pitchFamily="2" charset="0"/>
                <a:ea typeface="+mn-ea"/>
                <a:cs typeface="Arial Italic" panose="020B0604020202090204" charset="0"/>
                <a:sym typeface="+mn-ea"/>
              </a:rPr>
              <a:t>1</a:t>
            </a:r>
            <a:r>
              <a:rPr lang="en-US" altLang="zh-CN" sz="1600" b="0" i="1" dirty="0">
                <a:latin typeface="Helvetica" pitchFamily="2" charset="0"/>
                <a:ea typeface="+mn-ea"/>
                <a:cs typeface="Arial Italic" panose="020B0604020202090204" charset="0"/>
              </a:rPr>
              <a:t>, Lin Hai</a:t>
            </a:r>
            <a:r>
              <a:rPr lang="en-US" altLang="zh-CN" sz="1600" b="0" i="1" baseline="30000" dirty="0">
                <a:latin typeface="Helvetica" pitchFamily="2" charset="0"/>
                <a:ea typeface="+mn-ea"/>
                <a:cs typeface="Arial Italic" panose="020B0604020202090204" charset="0"/>
                <a:sym typeface="+mn-ea"/>
              </a:rPr>
              <a:t>1</a:t>
            </a:r>
            <a:r>
              <a:rPr lang="en-US" altLang="zh-CN" sz="1600" b="0" i="1" dirty="0">
                <a:latin typeface="Helvetica" pitchFamily="2" charset="0"/>
                <a:ea typeface="+mn-ea"/>
                <a:cs typeface="Arial Italic" panose="020B0604020202090204" charset="0"/>
              </a:rPr>
              <a:t>, Yiming Zhao</a:t>
            </a:r>
            <a:r>
              <a:rPr lang="en-US" altLang="zh-CN" sz="1600" b="0" i="1" baseline="30000" dirty="0">
                <a:latin typeface="Helvetica" pitchFamily="2" charset="0"/>
                <a:ea typeface="+mn-ea"/>
                <a:cs typeface="Arial Italic" panose="020B0604020202090204" charset="0"/>
              </a:rPr>
              <a:t>4</a:t>
            </a:r>
            <a:r>
              <a:rPr lang="en-US" altLang="zh-CN" sz="1600" b="0" i="1" dirty="0">
                <a:latin typeface="Helvetica" pitchFamily="2" charset="0"/>
                <a:ea typeface="+mn-ea"/>
                <a:cs typeface="Arial Italic" panose="020B0604020202090204" charset="0"/>
              </a:rPr>
              <a:t>, Hai-Tao Zheng</a:t>
            </a:r>
            <a:r>
              <a:rPr lang="en-US" altLang="zh-CN" sz="1600" b="0" i="1" baseline="30000" dirty="0">
                <a:latin typeface="Helvetica" pitchFamily="2" charset="0"/>
                <a:ea typeface="+mn-ea"/>
                <a:cs typeface="Arial Italic" panose="020B0604020202090204" charset="0"/>
                <a:sym typeface="+mn-ea"/>
              </a:rPr>
              <a:t>1,2,∗</a:t>
            </a:r>
            <a:r>
              <a:rPr lang="en-US" altLang="zh-CN" sz="1600" b="0" i="1" dirty="0">
                <a:latin typeface="Helvetica" pitchFamily="2" charset="0"/>
                <a:ea typeface="+mn-ea"/>
                <a:cs typeface="Arial Italic" panose="020B0604020202090204" charset="0"/>
              </a:rPr>
              <a:t>, Hong-Gee Kim</a:t>
            </a:r>
            <a:r>
              <a:rPr lang="en-US" altLang="zh-CN" sz="1600" b="0" i="1" baseline="30000" dirty="0">
                <a:latin typeface="Helvetica" pitchFamily="2" charset="0"/>
                <a:ea typeface="+mn-ea"/>
                <a:cs typeface="Arial Italic" panose="020B0604020202090204" charset="0"/>
              </a:rPr>
              <a:t>3</a:t>
            </a:r>
          </a:p>
        </p:txBody>
      </p:sp>
      <p:sp>
        <p:nvSpPr>
          <p:cNvPr id="10" name="标题 1"/>
          <p:cNvSpPr txBox="1"/>
          <p:nvPr/>
        </p:nvSpPr>
        <p:spPr>
          <a:xfrm>
            <a:off x="196215" y="3198495"/>
            <a:ext cx="11884025" cy="556260"/>
          </a:xfrm>
          <a:prstGeom prst="rect">
            <a:avLst/>
          </a:prstGeom>
        </p:spPr>
        <p:txBody>
          <a:bodyPr vert="horz" lIns="91440" tIns="45720" rIns="91440" bIns="45720" rtlCol="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defRPr sz="5000" b="1" kern="1200" spc="300" baseline="0">
                <a:solidFill>
                  <a:schemeClr val="bg1"/>
                </a:solidFill>
                <a:latin typeface="Arial" panose="020B0604020202090204" pitchFamily="34" charset="0"/>
                <a:ea typeface="微软雅黑" charset="-122"/>
                <a:cs typeface="Arial" panose="020B0604020202090204" pitchFamily="34" charset="0"/>
              </a:defRPr>
            </a:lvl1pPr>
          </a:lstStyle>
          <a:p>
            <a:pPr algn="ctr"/>
            <a:r>
              <a:rPr lang="en-GB" altLang="zh-CN" sz="1200" b="0" i="1" baseline="30000" dirty="0">
                <a:latin typeface="Helvetica" pitchFamily="2" charset="0"/>
                <a:ea typeface="+mj-ea"/>
                <a:cs typeface="Arial Italic" panose="020B0604020202090204" charset="0"/>
              </a:rPr>
              <a:t>1</a:t>
            </a:r>
            <a:r>
              <a:rPr lang="en-GB" altLang="zh-CN" sz="1200" b="0" i="1" dirty="0">
                <a:latin typeface="Helvetica" pitchFamily="2" charset="0"/>
                <a:ea typeface="+mj-ea"/>
                <a:cs typeface="Arial Italic" panose="020B0604020202090204" charset="0"/>
              </a:rPr>
              <a:t> Shenzhen International Graduate School, Tsinghua University, Chin</a:t>
            </a:r>
            <a:r>
              <a:rPr lang="en-US" altLang="en-GB" sz="1200" b="0" i="1" dirty="0">
                <a:latin typeface="Helvetica" pitchFamily="2" charset="0"/>
                <a:ea typeface="+mj-ea"/>
                <a:cs typeface="Arial Italic" panose="020B0604020202090204" charset="0"/>
              </a:rPr>
              <a:t>a    </a:t>
            </a:r>
            <a:r>
              <a:rPr lang="en-GB" altLang="zh-CN" sz="1200" b="0" i="1" baseline="30000" dirty="0">
                <a:latin typeface="Helvetica" pitchFamily="2" charset="0"/>
                <a:ea typeface="+mj-ea"/>
                <a:cs typeface="Arial Italic" panose="020B0604020202090204" charset="0"/>
              </a:rPr>
              <a:t>2 </a:t>
            </a:r>
            <a:r>
              <a:rPr lang="en-US" altLang="zh-CN" sz="1200" b="0" i="1" dirty="0">
                <a:latin typeface="Helvetica" pitchFamily="2" charset="0"/>
                <a:ea typeface="+mj-ea"/>
                <a:cs typeface="Arial Italic" panose="020B0604020202090204" charset="0"/>
              </a:rPr>
              <a:t>Pengcheng</a:t>
            </a:r>
            <a:r>
              <a:rPr lang="en-GB" altLang="zh-CN" sz="1200" b="0" i="1" dirty="0">
                <a:latin typeface="Helvetica" pitchFamily="2" charset="0"/>
                <a:ea typeface="+mj-ea"/>
                <a:cs typeface="Arial Italic" panose="020B0604020202090204" charset="0"/>
              </a:rPr>
              <a:t> </a:t>
            </a:r>
            <a:r>
              <a:rPr lang="en-US" altLang="en-GB" sz="1200" b="0" i="1" dirty="0">
                <a:latin typeface="Helvetica" pitchFamily="2" charset="0"/>
                <a:ea typeface="+mj-ea"/>
                <a:cs typeface="Arial Italic" panose="020B0604020202090204" charset="0"/>
              </a:rPr>
              <a:t>Laboratory</a:t>
            </a:r>
          </a:p>
          <a:p>
            <a:pPr algn="ctr"/>
            <a:r>
              <a:rPr lang="en-US" altLang="en-GB" sz="1200" b="0" i="1" baseline="30000" dirty="0">
                <a:latin typeface="Helvetica" pitchFamily="2" charset="0"/>
                <a:ea typeface="+mj-ea"/>
                <a:cs typeface="Arial Italic" panose="020B0604020202090204" charset="0"/>
                <a:sym typeface="+mn-ea"/>
              </a:rPr>
              <a:t>3 </a:t>
            </a:r>
            <a:r>
              <a:rPr lang="en-US" altLang="zh-CN" sz="1200" b="0" i="1" dirty="0">
                <a:latin typeface="Helvetica" pitchFamily="2" charset="0"/>
                <a:ea typeface="+mj-ea"/>
                <a:cs typeface="Arial Italic" panose="020B0604020202090204" charset="0"/>
                <a:sym typeface="+mn-ea"/>
              </a:rPr>
              <a:t>Seoul National University</a:t>
            </a:r>
            <a:r>
              <a:rPr lang="en-US" altLang="en-GB" sz="1200" b="0" i="1" dirty="0">
                <a:latin typeface="Helvetica" pitchFamily="2" charset="0"/>
                <a:ea typeface="+mj-ea"/>
                <a:cs typeface="Arial Italic" panose="020B0604020202090204" charset="0"/>
                <a:sym typeface="+mn-ea"/>
              </a:rPr>
              <a:t>    </a:t>
            </a:r>
            <a:r>
              <a:rPr lang="en-US" altLang="zh-CN" sz="1200" b="0" i="1" baseline="30000" dirty="0">
                <a:latin typeface="Helvetica" pitchFamily="2" charset="0"/>
                <a:ea typeface="+mj-ea"/>
                <a:cs typeface="Arial Italic" panose="020B0604020202090204" charset="0"/>
                <a:sym typeface="+mn-ea"/>
              </a:rPr>
              <a:t>4</a:t>
            </a:r>
            <a:r>
              <a:rPr lang="en-GB" altLang="zh-CN" sz="1200" b="0" i="1" dirty="0">
                <a:latin typeface="Helvetica" pitchFamily="2" charset="0"/>
                <a:ea typeface="+mj-ea"/>
                <a:cs typeface="Arial Italic" panose="020B0604020202090204" charset="0"/>
                <a:sym typeface="+mn-ea"/>
              </a:rPr>
              <a:t> </a:t>
            </a:r>
            <a:r>
              <a:rPr lang="en-US" altLang="zh-CN" sz="1200" b="0" i="1" dirty="0">
                <a:latin typeface="Helvetica" pitchFamily="2" charset="0"/>
                <a:ea typeface="+mj-ea"/>
                <a:cs typeface="Arial Italic" panose="020B0604020202090204" charset="0"/>
              </a:rPr>
              <a:t>Sun Yat-sen University</a:t>
            </a:r>
          </a:p>
        </p:txBody>
      </p:sp>
      <p:sp>
        <p:nvSpPr>
          <p:cNvPr id="11" name="文本框 10"/>
          <p:cNvSpPr txBox="1"/>
          <p:nvPr/>
        </p:nvSpPr>
        <p:spPr>
          <a:xfrm>
            <a:off x="4473633" y="3697245"/>
            <a:ext cx="3631276" cy="338554"/>
          </a:xfrm>
          <a:prstGeom prst="rect">
            <a:avLst/>
          </a:prstGeom>
          <a:noFill/>
        </p:spPr>
        <p:txBody>
          <a:bodyPr wrap="square" rtlCol="0">
            <a:spAutoFit/>
          </a:bodyPr>
          <a:lstStyle/>
          <a:p>
            <a:r>
              <a:rPr lang="en-US" altLang="zh-CN" sz="1600" dirty="0">
                <a:solidFill>
                  <a:schemeClr val="bg1"/>
                </a:solidFill>
                <a:latin typeface="Helvetica" pitchFamily="2" charset="0"/>
              </a:rPr>
              <a:t>tangjw24@mails.tsinghua.edu.cn</a:t>
            </a:r>
          </a:p>
        </p:txBody>
      </p:sp>
      <p:grpSp>
        <p:nvGrpSpPr>
          <p:cNvPr id="13" name="组合 12"/>
          <p:cNvGrpSpPr/>
          <p:nvPr/>
        </p:nvGrpSpPr>
        <p:grpSpPr>
          <a:xfrm>
            <a:off x="2128266" y="5163787"/>
            <a:ext cx="3328873" cy="400110"/>
            <a:chOff x="2128266" y="5207085"/>
            <a:chExt cx="3328873" cy="400110"/>
          </a:xfrm>
        </p:grpSpPr>
        <p:sp>
          <p:nvSpPr>
            <p:cNvPr id="14" name="文本框 13"/>
            <p:cNvSpPr txBox="1"/>
            <p:nvPr/>
          </p:nvSpPr>
          <p:spPr>
            <a:xfrm>
              <a:off x="2258283" y="5207085"/>
              <a:ext cx="3198856" cy="400110"/>
            </a:xfrm>
            <a:prstGeom prst="rect">
              <a:avLst/>
            </a:prstGeom>
            <a:noFill/>
          </p:spPr>
          <p:txBody>
            <a:bodyPr wrap="square" rtlCol="0">
              <a:spAutoFit/>
            </a:bodyPr>
            <a:lstStyle/>
            <a:p>
              <a:r>
                <a:rPr lang="en-US" altLang="zh-CN" sz="2000" b="1" dirty="0">
                  <a:latin typeface="Helvetica" pitchFamily="2" charset="0"/>
                  <a:ea typeface="微软雅黑" charset="-122"/>
                </a:rPr>
                <a:t>Presenter</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Jingheng Ye</a:t>
              </a:r>
            </a:p>
          </p:txBody>
        </p:sp>
        <p:sp>
          <p:nvSpPr>
            <p:cNvPr id="15" name="矩形 14"/>
            <p:cNvSpPr/>
            <p:nvPr/>
          </p:nvSpPr>
          <p:spPr>
            <a:xfrm>
              <a:off x="2128266" y="5275396"/>
              <a:ext cx="130017" cy="248677"/>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6" name="组合 15"/>
          <p:cNvGrpSpPr/>
          <p:nvPr/>
        </p:nvGrpSpPr>
        <p:grpSpPr>
          <a:xfrm>
            <a:off x="6734862" y="5163787"/>
            <a:ext cx="4420818" cy="400110"/>
            <a:chOff x="4784525" y="5207085"/>
            <a:chExt cx="4420818" cy="400110"/>
          </a:xfrm>
        </p:grpSpPr>
        <p:sp>
          <p:nvSpPr>
            <p:cNvPr id="17" name="文本框 16"/>
            <p:cNvSpPr txBox="1"/>
            <p:nvPr/>
          </p:nvSpPr>
          <p:spPr>
            <a:xfrm>
              <a:off x="4914541" y="5207085"/>
              <a:ext cx="4290802" cy="400110"/>
            </a:xfrm>
            <a:prstGeom prst="rect">
              <a:avLst/>
            </a:prstGeom>
            <a:noFill/>
          </p:spPr>
          <p:txBody>
            <a:bodyPr wrap="square" rtlCol="0">
              <a:spAutoFit/>
            </a:bodyPr>
            <a:lstStyle/>
            <a:p>
              <a:r>
                <a:rPr lang="en-US" altLang="zh-CN" sz="2000" b="1" dirty="0">
                  <a:latin typeface="Helvetica" pitchFamily="2" charset="0"/>
                  <a:ea typeface="微软雅黑" charset="-122"/>
                </a:rPr>
                <a:t>Advised by</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Prof. Hai-Tao Zheng</a:t>
              </a:r>
              <a:endParaRPr lang="zh-CN" altLang="en-US" sz="2000" dirty="0">
                <a:latin typeface="Helvetica" pitchFamily="2" charset="0"/>
                <a:ea typeface="微软雅黑" charset="-122"/>
              </a:endParaRPr>
            </a:p>
          </p:txBody>
        </p:sp>
        <p:sp>
          <p:nvSpPr>
            <p:cNvPr id="18" name="矩形 17"/>
            <p:cNvSpPr/>
            <p:nvPr/>
          </p:nvSpPr>
          <p:spPr>
            <a:xfrm>
              <a:off x="4784525" y="5269775"/>
              <a:ext cx="130017" cy="248677"/>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7849235" y="355600"/>
            <a:ext cx="4212590" cy="808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7535"/>
    </mc:Choice>
    <mc:Fallback xmlns="">
      <p:transition spd="slow" advTm="1753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latin typeface="Helvetica" pitchFamily="2" charset="0"/>
                <a:cs typeface="Arial Regular" panose="020B0604020202090204" charset="0"/>
              </a:rPr>
              <a:t>Content</a:t>
            </a:r>
          </a:p>
        </p:txBody>
      </p:sp>
      <p:grpSp>
        <p:nvGrpSpPr>
          <p:cNvPr id="8" name="组合 7"/>
          <p:cNvGrpSpPr/>
          <p:nvPr/>
        </p:nvGrpSpPr>
        <p:grpSpPr>
          <a:xfrm>
            <a:off x="5010952" y="1678379"/>
            <a:ext cx="5487503" cy="769441"/>
            <a:chOff x="4262925" y="1076389"/>
            <a:chExt cx="5487503" cy="769441"/>
          </a:xfrm>
        </p:grpSpPr>
        <p:sp>
          <p:nvSpPr>
            <p:cNvPr id="9" name="文本框 8"/>
            <p:cNvSpPr txBox="1"/>
            <p:nvPr/>
          </p:nvSpPr>
          <p:spPr>
            <a:xfrm>
              <a:off x="5347901" y="1138617"/>
              <a:ext cx="4402527" cy="583565"/>
            </a:xfrm>
            <a:prstGeom prst="rect">
              <a:avLst/>
            </a:prstGeom>
            <a:noFill/>
          </p:spPr>
          <p:txBody>
            <a:bodyPr wrap="square" rtlCol="0">
              <a:spAutoFit/>
            </a:bodyPr>
            <a:lstStyle/>
            <a:p>
              <a:r>
                <a:rPr lang="en-US" altLang="zh-CN" sz="3200" b="1" dirty="0">
                  <a:latin typeface="Helvetica" pitchFamily="2" charset="0"/>
                  <a:cs typeface="Arial Regular" panose="020B0604020202090204" charset="0"/>
                </a:rPr>
                <a:t>Introduction</a:t>
              </a:r>
            </a:p>
          </p:txBody>
        </p:sp>
        <p:sp>
          <p:nvSpPr>
            <p:cNvPr id="10" name="文本框 9"/>
            <p:cNvSpPr txBox="1"/>
            <p:nvPr/>
          </p:nvSpPr>
          <p:spPr>
            <a:xfrm>
              <a:off x="4262925" y="1076389"/>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01</a:t>
              </a:r>
            </a:p>
          </p:txBody>
        </p:sp>
      </p:grpSp>
      <p:grpSp>
        <p:nvGrpSpPr>
          <p:cNvPr id="11" name="组合 10"/>
          <p:cNvGrpSpPr/>
          <p:nvPr/>
        </p:nvGrpSpPr>
        <p:grpSpPr>
          <a:xfrm>
            <a:off x="5010952" y="2733462"/>
            <a:ext cx="5504648" cy="769441"/>
            <a:chOff x="4262925" y="2111703"/>
            <a:chExt cx="5504648" cy="769441"/>
          </a:xfrm>
        </p:grpSpPr>
        <p:sp>
          <p:nvSpPr>
            <p:cNvPr id="12" name="文本框 11"/>
            <p:cNvSpPr txBox="1"/>
            <p:nvPr/>
          </p:nvSpPr>
          <p:spPr>
            <a:xfrm>
              <a:off x="5347825" y="2172827"/>
              <a:ext cx="4419748" cy="583565"/>
            </a:xfrm>
            <a:prstGeom prst="rect">
              <a:avLst/>
            </a:prstGeom>
            <a:noFill/>
          </p:spPr>
          <p:txBody>
            <a:bodyPr wrap="square" rtlCol="0">
              <a:spAutoFit/>
            </a:bodyPr>
            <a:lstStyle>
              <a:defPPr>
                <a:defRPr lang="zh-CN"/>
              </a:defPPr>
              <a:lvl1pPr>
                <a:defRPr sz="2400">
                  <a:latin typeface="微软雅黑" charset="-122"/>
                  <a:ea typeface="微软雅黑" charset="-122"/>
                </a:defRPr>
              </a:lvl1pPr>
            </a:lstStyle>
            <a:p>
              <a:r>
                <a:rPr lang="en-GB" altLang="zh-CN" sz="3200" b="1" dirty="0">
                  <a:latin typeface="Helvetica" pitchFamily="2" charset="0"/>
                  <a:cs typeface="Arial Regular" panose="020B0604020202090204" charset="0"/>
                </a:rPr>
                <a:t>Method</a:t>
              </a:r>
            </a:p>
          </p:txBody>
        </p:sp>
        <p:sp>
          <p:nvSpPr>
            <p:cNvPr id="13" name="文本框 12"/>
            <p:cNvSpPr txBox="1"/>
            <p:nvPr/>
          </p:nvSpPr>
          <p:spPr>
            <a:xfrm>
              <a:off x="4262925" y="2111703"/>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02</a:t>
              </a:r>
            </a:p>
          </p:txBody>
        </p:sp>
      </p:grpSp>
      <p:grpSp>
        <p:nvGrpSpPr>
          <p:cNvPr id="14" name="组合 13"/>
          <p:cNvGrpSpPr/>
          <p:nvPr/>
        </p:nvGrpSpPr>
        <p:grpSpPr>
          <a:xfrm>
            <a:off x="5010952" y="3788545"/>
            <a:ext cx="5504648" cy="769441"/>
            <a:chOff x="4262925" y="3186555"/>
            <a:chExt cx="5504648" cy="769441"/>
          </a:xfrm>
        </p:grpSpPr>
        <p:sp>
          <p:nvSpPr>
            <p:cNvPr id="15" name="文本框 14"/>
            <p:cNvSpPr txBox="1"/>
            <p:nvPr/>
          </p:nvSpPr>
          <p:spPr>
            <a:xfrm>
              <a:off x="5347825" y="3221175"/>
              <a:ext cx="4419748" cy="583565"/>
            </a:xfrm>
            <a:prstGeom prst="rect">
              <a:avLst/>
            </a:prstGeom>
            <a:noFill/>
          </p:spPr>
          <p:txBody>
            <a:bodyPr wrap="square" rtlCol="0">
              <a:spAutoFit/>
            </a:bodyPr>
            <a:lstStyle>
              <a:defPPr>
                <a:defRPr lang="zh-CN"/>
              </a:defPPr>
              <a:lvl1pPr>
                <a:defRPr sz="2400">
                  <a:latin typeface="微软雅黑" charset="-122"/>
                  <a:ea typeface="微软雅黑" charset="-122"/>
                </a:defRPr>
              </a:lvl1pPr>
            </a:lstStyle>
            <a:p>
              <a:r>
                <a:rPr lang="en-US" altLang="en-GB" sz="3200" b="1" dirty="0">
                  <a:latin typeface="Helvetica" pitchFamily="2" charset="0"/>
                  <a:ea typeface="APPLE LISUNG LIGHT" pitchFamily="2" charset="-120"/>
                  <a:cs typeface="Arial Regular" panose="020B0604020202090204" charset="0"/>
                </a:rPr>
                <a:t>Result</a:t>
              </a:r>
              <a:r>
                <a:rPr lang="en-GB" altLang="zh-CN" sz="3200" b="1" dirty="0">
                  <a:latin typeface="Helvetica" pitchFamily="2" charset="0"/>
                  <a:ea typeface="APPLE LISUNG LIGHT" pitchFamily="2" charset="-120"/>
                  <a:cs typeface="Arial Regular" panose="020B0604020202090204" charset="0"/>
                </a:rPr>
                <a:t>s</a:t>
              </a:r>
              <a:r>
                <a:rPr lang="en-US" altLang="en-GB" sz="3200" b="1" dirty="0">
                  <a:latin typeface="Helvetica" pitchFamily="2" charset="0"/>
                  <a:ea typeface="APPLE LISUNG LIGHT" pitchFamily="2" charset="-120"/>
                  <a:cs typeface="Arial Regular" panose="020B0604020202090204" charset="0"/>
                </a:rPr>
                <a:t> and Analysis</a:t>
              </a:r>
            </a:p>
          </p:txBody>
        </p:sp>
        <p:sp>
          <p:nvSpPr>
            <p:cNvPr id="16" name="文本框 15"/>
            <p:cNvSpPr txBox="1"/>
            <p:nvPr/>
          </p:nvSpPr>
          <p:spPr>
            <a:xfrm>
              <a:off x="4262925" y="3186555"/>
              <a:ext cx="1058334" cy="769441"/>
            </a:xfrm>
            <a:prstGeom prst="rect">
              <a:avLst/>
            </a:prstGeom>
            <a:noFill/>
          </p:spPr>
          <p:txBody>
            <a:bodyPr wrap="square" rtlCol="0">
              <a:spAutoFit/>
            </a:bodyPr>
            <a:lstStyle/>
            <a:p>
              <a:r>
                <a:rPr lang="en-US" altLang="zh-CN" sz="4400" b="1" dirty="0">
                  <a:solidFill>
                    <a:srgbClr val="5D1470"/>
                  </a:solidFill>
                  <a:latin typeface="Alibaba PuHuiTi B" panose="00020600040101010101" pitchFamily="18" charset="-122"/>
                  <a:ea typeface="Alibaba PuHuiTi B" panose="00020600040101010101" pitchFamily="18" charset="-122"/>
                  <a:cs typeface="Alibaba PuHuiTi B" panose="00020600040101010101" pitchFamily="18" charset="-122"/>
                </a:rPr>
                <a:t>03</a:t>
              </a:r>
            </a:p>
          </p:txBody>
        </p:sp>
      </p:grpSp>
    </p:spTree>
  </p:cSld>
  <p:clrMapOvr>
    <a:masterClrMapping/>
  </p:clrMapOvr>
  <mc:AlternateContent xmlns:mc="http://schemas.openxmlformats.org/markup-compatibility/2006" xmlns:p14="http://schemas.microsoft.com/office/powerpoint/2010/main">
    <mc:Choice Requires="p14">
      <p:transition spd="slow" p14:dur="2000" advTm="27043"/>
    </mc:Choice>
    <mc:Fallback xmlns="">
      <p:transition spd="slow" advTm="2704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Introduction - Background</a:t>
            </a:r>
          </a:p>
        </p:txBody>
      </p:sp>
      <p:sp>
        <p:nvSpPr>
          <p:cNvPr id="18" name="文本框 17"/>
          <p:cNvSpPr txBox="1"/>
          <p:nvPr/>
        </p:nvSpPr>
        <p:spPr>
          <a:xfrm>
            <a:off x="462512" y="4451582"/>
            <a:ext cx="4968469" cy="307777"/>
          </a:xfrm>
          <a:prstGeom prst="rect">
            <a:avLst/>
          </a:prstGeom>
          <a:noFill/>
        </p:spPr>
        <p:txBody>
          <a:bodyPr wrap="square" rtlCol="0">
            <a:spAutoFit/>
          </a:bodyPr>
          <a:lstStyle/>
          <a:p>
            <a:r>
              <a:rPr lang="en-US" altLang="zh-CN" sz="1400" dirty="0">
                <a:latin typeface="Helvetica" pitchFamily="2" charset="0"/>
              </a:rPr>
              <a:t>Prompt Compression Methods in Long Context Scenarios [1]</a:t>
            </a:r>
          </a:p>
        </p:txBody>
      </p:sp>
      <p:pic>
        <p:nvPicPr>
          <p:cNvPr id="4" name="图形 3">
            <a:extLst>
              <a:ext uri="{FF2B5EF4-FFF2-40B4-BE49-F238E27FC236}">
                <a16:creationId xmlns:a16="http://schemas.microsoft.com/office/drawing/2014/main" id="{503A12D1-7CD5-8676-B54F-9AF4002F0B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14003" y="283583"/>
            <a:ext cx="934775" cy="623183"/>
          </a:xfrm>
          <a:prstGeom prst="rect">
            <a:avLst/>
          </a:prstGeom>
        </p:spPr>
      </p:pic>
      <p:sp>
        <p:nvSpPr>
          <p:cNvPr id="2" name="文本框 1">
            <a:extLst>
              <a:ext uri="{FF2B5EF4-FFF2-40B4-BE49-F238E27FC236}">
                <a16:creationId xmlns:a16="http://schemas.microsoft.com/office/drawing/2014/main" id="{71D96712-0969-E5BA-4E63-8CC80570FDB4}"/>
              </a:ext>
            </a:extLst>
          </p:cNvPr>
          <p:cNvSpPr txBox="1"/>
          <p:nvPr/>
        </p:nvSpPr>
        <p:spPr>
          <a:xfrm>
            <a:off x="396018" y="6266640"/>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[1] Liu</a:t>
            </a:r>
            <a:r>
              <a:rPr lang="en" altLang="zh-CN" sz="1400" b="0" i="0" dirty="0">
                <a:solidFill>
                  <a:srgbClr val="8B8B8B"/>
                </a:solidFill>
                <a:effectLst/>
                <a:latin typeface="PingFang SC" panose="020B0400000000000000" pitchFamily="34" charset="-122"/>
                <a:ea typeface="PingFang SC" panose="020B0400000000000000" pitchFamily="34" charset="-122"/>
              </a:rPr>
              <a:t> et al., A comprehensive Survey on Long Context Language Modeling</a:t>
            </a:r>
            <a:r>
              <a:rPr lang="en" altLang="zh-CN" sz="1400" dirty="0">
                <a:solidFill>
                  <a:srgbClr val="8B8B8B"/>
                </a:solidFill>
                <a:latin typeface="PingFang SC" panose="020B0400000000000000" pitchFamily="34" charset="-122"/>
                <a:ea typeface="PingFang SC" panose="020B0400000000000000" pitchFamily="34" charset="-122"/>
              </a:rPr>
              <a:t>,</a:t>
            </a:r>
            <a:r>
              <a:rPr lang="en" altLang="zh-CN" sz="1400" b="0" i="0" dirty="0">
                <a:solidFill>
                  <a:srgbClr val="8B8B8B"/>
                </a:solidFill>
                <a:effectLst/>
                <a:latin typeface="PingFang SC" panose="020B0400000000000000" pitchFamily="34" charset="-122"/>
                <a:ea typeface="PingFang SC" panose="020B0400000000000000" pitchFamily="34" charset="-122"/>
              </a:rPr>
              <a:t> </a:t>
            </a:r>
            <a:r>
              <a:rPr lang="en" altLang="zh-CN" sz="1400" b="0" i="0" dirty="0" err="1">
                <a:solidFill>
                  <a:srgbClr val="8B8B8B"/>
                </a:solidFill>
                <a:effectLst/>
                <a:latin typeface="PingFang SC" panose="020B0400000000000000" pitchFamily="34" charset="-122"/>
                <a:ea typeface="PingFang SC" panose="020B0400000000000000" pitchFamily="34" charset="-122"/>
              </a:rPr>
              <a:t>Arxiv</a:t>
            </a:r>
            <a:r>
              <a:rPr lang="en" altLang="zh-CN" sz="1400" b="0" i="0" dirty="0">
                <a:solidFill>
                  <a:srgbClr val="8B8B8B"/>
                </a:solidFill>
                <a:effectLst/>
                <a:latin typeface="PingFang SC" panose="020B0400000000000000" pitchFamily="34" charset="-122"/>
                <a:ea typeface="PingFang SC" panose="020B0400000000000000" pitchFamily="34" charset="-122"/>
              </a:rPr>
              <a:t> 2025.</a:t>
            </a:r>
            <a:endParaRPr lang="zh-CN" altLang="en-US" sz="1100" dirty="0"/>
          </a:p>
        </p:txBody>
      </p:sp>
      <p:pic>
        <p:nvPicPr>
          <p:cNvPr id="5" name="图片 4">
            <a:extLst>
              <a:ext uri="{FF2B5EF4-FFF2-40B4-BE49-F238E27FC236}">
                <a16:creationId xmlns:a16="http://schemas.microsoft.com/office/drawing/2014/main" id="{4D6958FE-BCB2-CEA0-278F-94174C1447E9}"/>
              </a:ext>
            </a:extLst>
          </p:cNvPr>
          <p:cNvPicPr>
            <a:picLocks noChangeAspect="1"/>
          </p:cNvPicPr>
          <p:nvPr/>
        </p:nvPicPr>
        <p:blipFill>
          <a:blip r:embed="rId5"/>
          <a:stretch>
            <a:fillRect/>
          </a:stretch>
        </p:blipFill>
        <p:spPr>
          <a:xfrm>
            <a:off x="1129693" y="1702121"/>
            <a:ext cx="3634105" cy="2556686"/>
          </a:xfrm>
          <a:prstGeom prst="rect">
            <a:avLst/>
          </a:prstGeom>
        </p:spPr>
      </p:pic>
      <p:sp>
        <p:nvSpPr>
          <p:cNvPr id="7" name="文本框 6">
            <a:extLst>
              <a:ext uri="{FF2B5EF4-FFF2-40B4-BE49-F238E27FC236}">
                <a16:creationId xmlns:a16="http://schemas.microsoft.com/office/drawing/2014/main" id="{8217B55C-A4BA-A15E-26F7-A75A44AF9179}"/>
              </a:ext>
            </a:extLst>
          </p:cNvPr>
          <p:cNvSpPr txBox="1"/>
          <p:nvPr/>
        </p:nvSpPr>
        <p:spPr>
          <a:xfrm>
            <a:off x="396018" y="4952134"/>
            <a:ext cx="5547582" cy="923330"/>
          </a:xfrm>
          <a:prstGeom prst="rect">
            <a:avLst/>
          </a:prstGeom>
          <a:noFill/>
        </p:spPr>
        <p:txBody>
          <a:bodyPr wrap="square" rtlCol="0">
            <a:spAutoFit/>
          </a:bodyPr>
          <a:lstStyle/>
          <a:p>
            <a:r>
              <a:rPr lang="en-US" altLang="zh-CN" b="1" dirty="0">
                <a:latin typeface="Helvetica" pitchFamily="2" charset="0"/>
              </a:rPr>
              <a:t>Challenge I</a:t>
            </a:r>
            <a:r>
              <a:rPr lang="en-US" altLang="zh-CN" dirty="0">
                <a:latin typeface="Helvetica" pitchFamily="2" charset="0"/>
              </a:rPr>
              <a:t>: High computational overhead (           )</a:t>
            </a:r>
          </a:p>
          <a:p>
            <a:endParaRPr lang="en-US" altLang="zh-CN" dirty="0">
              <a:latin typeface="Helvetica" pitchFamily="2" charset="0"/>
            </a:endParaRPr>
          </a:p>
          <a:p>
            <a:r>
              <a:rPr lang="en-US" altLang="zh-CN" b="1" dirty="0">
                <a:latin typeface="Helvetica" pitchFamily="2" charset="0"/>
              </a:rPr>
              <a:t>Challenge II</a:t>
            </a:r>
            <a:r>
              <a:rPr lang="en-US" altLang="zh-CN" dirty="0">
                <a:latin typeface="Helvetica" pitchFamily="2" charset="0"/>
              </a:rPr>
              <a:t>: Information redundancy in long context</a:t>
            </a:r>
          </a:p>
        </p:txBody>
      </p:sp>
      <p:pic>
        <p:nvPicPr>
          <p:cNvPr id="8" name="图片 7" descr="形状&#10;&#10;AI 生成的内容可能不正确。">
            <a:extLst>
              <a:ext uri="{FF2B5EF4-FFF2-40B4-BE49-F238E27FC236}">
                <a16:creationId xmlns:a16="http://schemas.microsoft.com/office/drawing/2014/main" id="{8B52B5D7-2C10-FDBE-2439-0B6659701A46}"/>
              </a:ext>
            </a:extLst>
          </p:cNvPr>
          <p:cNvPicPr>
            <a:picLocks noChangeAspect="1"/>
          </p:cNvPicPr>
          <p:nvPr/>
        </p:nvPicPr>
        <p:blipFill>
          <a:blip r:embed="rId6"/>
          <a:stretch>
            <a:fillRect/>
          </a:stretch>
        </p:blipFill>
        <p:spPr>
          <a:xfrm>
            <a:off x="4978340" y="4981152"/>
            <a:ext cx="632558" cy="3077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1371"/>
    </mc:Choice>
    <mc:Fallback xmlns="">
      <p:transition spd="slow" advTm="4137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A5C8-8BAC-3E72-FACA-4C51C0DEC00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209CF8A-FD82-7012-3768-6992AA171D25}"/>
              </a:ext>
            </a:extLst>
          </p:cNvPr>
          <p:cNvSpPr>
            <a:spLocks noGrp="1"/>
          </p:cNvSpPr>
          <p:nvPr>
            <p:ph type="title"/>
          </p:nvPr>
        </p:nvSpPr>
        <p:spPr/>
        <p:txBody>
          <a:bodyPr/>
          <a:lstStyle/>
          <a:p>
            <a:r>
              <a:rPr kumimoji="1" lang="en-US" altLang="zh-CN" b="1" dirty="0">
                <a:latin typeface="Helvetica" pitchFamily="2" charset="0"/>
              </a:rPr>
              <a:t>Introduction - Background</a:t>
            </a:r>
          </a:p>
        </p:txBody>
      </p:sp>
      <p:sp>
        <p:nvSpPr>
          <p:cNvPr id="9" name="文本框 8">
            <a:extLst>
              <a:ext uri="{FF2B5EF4-FFF2-40B4-BE49-F238E27FC236}">
                <a16:creationId xmlns:a16="http://schemas.microsoft.com/office/drawing/2014/main" id="{FE7C91A1-EE4B-5D63-6699-4A62F7222F4F}"/>
              </a:ext>
            </a:extLst>
          </p:cNvPr>
          <p:cNvSpPr txBox="1"/>
          <p:nvPr/>
        </p:nvSpPr>
        <p:spPr>
          <a:xfrm>
            <a:off x="396018" y="4952134"/>
            <a:ext cx="5547582" cy="923330"/>
          </a:xfrm>
          <a:prstGeom prst="rect">
            <a:avLst/>
          </a:prstGeom>
          <a:noFill/>
        </p:spPr>
        <p:txBody>
          <a:bodyPr wrap="square" rtlCol="0">
            <a:spAutoFit/>
          </a:bodyPr>
          <a:lstStyle/>
          <a:p>
            <a:r>
              <a:rPr lang="en-US" altLang="zh-CN" b="1" dirty="0">
                <a:latin typeface="Helvetica" pitchFamily="2" charset="0"/>
              </a:rPr>
              <a:t>Challenge I</a:t>
            </a:r>
            <a:r>
              <a:rPr lang="en-US" altLang="zh-CN" dirty="0">
                <a:latin typeface="Helvetica" pitchFamily="2" charset="0"/>
              </a:rPr>
              <a:t>: High computational overhead (           )</a:t>
            </a:r>
          </a:p>
          <a:p>
            <a:endParaRPr lang="en-US" altLang="zh-CN" dirty="0">
              <a:latin typeface="Helvetica" pitchFamily="2" charset="0"/>
            </a:endParaRPr>
          </a:p>
          <a:p>
            <a:r>
              <a:rPr lang="en-US" altLang="zh-CN" b="1" dirty="0">
                <a:latin typeface="Helvetica" pitchFamily="2" charset="0"/>
              </a:rPr>
              <a:t>Challenge II</a:t>
            </a:r>
            <a:r>
              <a:rPr lang="en-US" altLang="zh-CN" dirty="0">
                <a:latin typeface="Helvetica" pitchFamily="2" charset="0"/>
              </a:rPr>
              <a:t>: Information redundancy in long context</a:t>
            </a:r>
          </a:p>
        </p:txBody>
      </p:sp>
      <p:pic>
        <p:nvPicPr>
          <p:cNvPr id="17" name="图片 16">
            <a:extLst>
              <a:ext uri="{FF2B5EF4-FFF2-40B4-BE49-F238E27FC236}">
                <a16:creationId xmlns:a16="http://schemas.microsoft.com/office/drawing/2014/main" id="{2505491F-1F08-8921-9B23-CE06EDB4E8E8}"/>
              </a:ext>
            </a:extLst>
          </p:cNvPr>
          <p:cNvPicPr>
            <a:picLocks noChangeAspect="1"/>
          </p:cNvPicPr>
          <p:nvPr/>
        </p:nvPicPr>
        <p:blipFill>
          <a:blip r:embed="rId3"/>
          <a:stretch>
            <a:fillRect/>
          </a:stretch>
        </p:blipFill>
        <p:spPr>
          <a:xfrm>
            <a:off x="1129693" y="1702121"/>
            <a:ext cx="3634105" cy="2556686"/>
          </a:xfrm>
          <a:prstGeom prst="rect">
            <a:avLst/>
          </a:prstGeom>
        </p:spPr>
      </p:pic>
      <p:sp>
        <p:nvSpPr>
          <p:cNvPr id="18" name="文本框 17">
            <a:extLst>
              <a:ext uri="{FF2B5EF4-FFF2-40B4-BE49-F238E27FC236}">
                <a16:creationId xmlns:a16="http://schemas.microsoft.com/office/drawing/2014/main" id="{DF12D8E2-E7EB-982C-3BDA-062B1D95D6A7}"/>
              </a:ext>
            </a:extLst>
          </p:cNvPr>
          <p:cNvSpPr txBox="1"/>
          <p:nvPr/>
        </p:nvSpPr>
        <p:spPr>
          <a:xfrm>
            <a:off x="462512" y="4451582"/>
            <a:ext cx="4968469" cy="307777"/>
          </a:xfrm>
          <a:prstGeom prst="rect">
            <a:avLst/>
          </a:prstGeom>
          <a:noFill/>
        </p:spPr>
        <p:txBody>
          <a:bodyPr wrap="square" rtlCol="0">
            <a:spAutoFit/>
          </a:bodyPr>
          <a:lstStyle/>
          <a:p>
            <a:r>
              <a:rPr lang="en-US" altLang="zh-CN" sz="1400" dirty="0">
                <a:latin typeface="Helvetica" pitchFamily="2" charset="0"/>
              </a:rPr>
              <a:t>Prompt Compression Methods in Long Context Scenarios [1]</a:t>
            </a:r>
          </a:p>
        </p:txBody>
      </p:sp>
      <p:pic>
        <p:nvPicPr>
          <p:cNvPr id="4" name="图形 3">
            <a:extLst>
              <a:ext uri="{FF2B5EF4-FFF2-40B4-BE49-F238E27FC236}">
                <a16:creationId xmlns:a16="http://schemas.microsoft.com/office/drawing/2014/main" id="{D7AA344E-9F12-F212-411B-CF95F524C3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2" name="文本框 1">
            <a:extLst>
              <a:ext uri="{FF2B5EF4-FFF2-40B4-BE49-F238E27FC236}">
                <a16:creationId xmlns:a16="http://schemas.microsoft.com/office/drawing/2014/main" id="{FC716F6A-40FE-6DF9-EC63-8B78B4FDC851}"/>
              </a:ext>
            </a:extLst>
          </p:cNvPr>
          <p:cNvSpPr txBox="1"/>
          <p:nvPr/>
        </p:nvSpPr>
        <p:spPr>
          <a:xfrm>
            <a:off x="396018" y="6266640"/>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[1] Liu</a:t>
            </a:r>
            <a:r>
              <a:rPr lang="en" altLang="zh-CN" sz="1400" b="0" i="0" dirty="0">
                <a:solidFill>
                  <a:srgbClr val="8B8B8B"/>
                </a:solidFill>
                <a:effectLst/>
                <a:latin typeface="PingFang SC" panose="020B0400000000000000" pitchFamily="34" charset="-122"/>
                <a:ea typeface="PingFang SC" panose="020B0400000000000000" pitchFamily="34" charset="-122"/>
              </a:rPr>
              <a:t> et al., A comprehensive Survey on Long Context Language Modeling</a:t>
            </a:r>
            <a:r>
              <a:rPr lang="en" altLang="zh-CN" sz="1400" dirty="0">
                <a:solidFill>
                  <a:srgbClr val="8B8B8B"/>
                </a:solidFill>
                <a:latin typeface="PingFang SC" panose="020B0400000000000000" pitchFamily="34" charset="-122"/>
                <a:ea typeface="PingFang SC" panose="020B0400000000000000" pitchFamily="34" charset="-122"/>
              </a:rPr>
              <a:t>,</a:t>
            </a:r>
            <a:r>
              <a:rPr lang="en" altLang="zh-CN" sz="1400" b="0" i="0" dirty="0">
                <a:solidFill>
                  <a:srgbClr val="8B8B8B"/>
                </a:solidFill>
                <a:effectLst/>
                <a:latin typeface="PingFang SC" panose="020B0400000000000000" pitchFamily="34" charset="-122"/>
                <a:ea typeface="PingFang SC" panose="020B0400000000000000" pitchFamily="34" charset="-122"/>
              </a:rPr>
              <a:t> </a:t>
            </a:r>
            <a:r>
              <a:rPr lang="en" altLang="zh-CN" sz="1400" b="0" i="0" dirty="0" err="1">
                <a:solidFill>
                  <a:srgbClr val="8B8B8B"/>
                </a:solidFill>
                <a:effectLst/>
                <a:latin typeface="PingFang SC" panose="020B0400000000000000" pitchFamily="34" charset="-122"/>
                <a:ea typeface="PingFang SC" panose="020B0400000000000000" pitchFamily="34" charset="-122"/>
              </a:rPr>
              <a:t>Arxiv</a:t>
            </a:r>
            <a:r>
              <a:rPr lang="en" altLang="zh-CN" sz="1400" b="0" i="0" dirty="0">
                <a:solidFill>
                  <a:srgbClr val="8B8B8B"/>
                </a:solidFill>
                <a:effectLst/>
                <a:latin typeface="PingFang SC" panose="020B0400000000000000" pitchFamily="34" charset="-122"/>
                <a:ea typeface="PingFang SC" panose="020B0400000000000000" pitchFamily="34" charset="-122"/>
              </a:rPr>
              <a:t> 2025.</a:t>
            </a:r>
            <a:endParaRPr lang="zh-CN" altLang="en-US" sz="1100" dirty="0"/>
          </a:p>
        </p:txBody>
      </p:sp>
      <p:pic>
        <p:nvPicPr>
          <p:cNvPr id="13" name="图片 12" descr="形状&#10;&#10;AI 生成的内容可能不正确。">
            <a:extLst>
              <a:ext uri="{FF2B5EF4-FFF2-40B4-BE49-F238E27FC236}">
                <a16:creationId xmlns:a16="http://schemas.microsoft.com/office/drawing/2014/main" id="{DDAC7297-1161-0342-E4C8-C8125452D64C}"/>
              </a:ext>
            </a:extLst>
          </p:cNvPr>
          <p:cNvPicPr>
            <a:picLocks noChangeAspect="1"/>
          </p:cNvPicPr>
          <p:nvPr/>
        </p:nvPicPr>
        <p:blipFill>
          <a:blip r:embed="rId6"/>
          <a:stretch>
            <a:fillRect/>
          </a:stretch>
        </p:blipFill>
        <p:spPr>
          <a:xfrm>
            <a:off x="4978340" y="4981152"/>
            <a:ext cx="632558" cy="307777"/>
          </a:xfrm>
          <a:prstGeom prst="rect">
            <a:avLst/>
          </a:prstGeom>
        </p:spPr>
      </p:pic>
      <p:pic>
        <p:nvPicPr>
          <p:cNvPr id="5" name="图片 4">
            <a:extLst>
              <a:ext uri="{FF2B5EF4-FFF2-40B4-BE49-F238E27FC236}">
                <a16:creationId xmlns:a16="http://schemas.microsoft.com/office/drawing/2014/main" id="{F87BB210-3A59-6DCC-7935-2CBFCFC9ED9F}"/>
              </a:ext>
            </a:extLst>
          </p:cNvPr>
          <p:cNvPicPr>
            <a:picLocks noChangeAspect="1"/>
          </p:cNvPicPr>
          <p:nvPr/>
        </p:nvPicPr>
        <p:blipFill>
          <a:blip r:embed="rId7"/>
          <a:stretch>
            <a:fillRect/>
          </a:stretch>
        </p:blipFill>
        <p:spPr>
          <a:xfrm>
            <a:off x="6133465" y="1702121"/>
            <a:ext cx="5381625" cy="2722880"/>
          </a:xfrm>
          <a:prstGeom prst="rect">
            <a:avLst/>
          </a:prstGeom>
        </p:spPr>
      </p:pic>
      <p:sp>
        <p:nvSpPr>
          <p:cNvPr id="6" name="文本框 5">
            <a:extLst>
              <a:ext uri="{FF2B5EF4-FFF2-40B4-BE49-F238E27FC236}">
                <a16:creationId xmlns:a16="http://schemas.microsoft.com/office/drawing/2014/main" id="{0A3BA58E-676E-FD9C-C2F0-781488218368}"/>
              </a:ext>
            </a:extLst>
          </p:cNvPr>
          <p:cNvSpPr txBox="1"/>
          <p:nvPr/>
        </p:nvSpPr>
        <p:spPr>
          <a:xfrm>
            <a:off x="6839585" y="4449766"/>
            <a:ext cx="3968115" cy="306705"/>
          </a:xfrm>
          <a:prstGeom prst="rect">
            <a:avLst/>
          </a:prstGeom>
          <a:noFill/>
        </p:spPr>
        <p:txBody>
          <a:bodyPr wrap="square" rtlCol="0">
            <a:spAutoFit/>
          </a:bodyPr>
          <a:lstStyle/>
          <a:p>
            <a:r>
              <a:rPr lang="en-US" altLang="zh-CN" sz="1400" dirty="0">
                <a:latin typeface="Helvetica" pitchFamily="2" charset="0"/>
              </a:rPr>
              <a:t>Existing Soft Prompt Compression Paradigm</a:t>
            </a:r>
          </a:p>
        </p:txBody>
      </p:sp>
      <p:sp>
        <p:nvSpPr>
          <p:cNvPr id="7" name="文本框 6">
            <a:extLst>
              <a:ext uri="{FF2B5EF4-FFF2-40B4-BE49-F238E27FC236}">
                <a16:creationId xmlns:a16="http://schemas.microsoft.com/office/drawing/2014/main" id="{630C44CA-6FF3-709B-520E-0103A65A229D}"/>
              </a:ext>
            </a:extLst>
          </p:cNvPr>
          <p:cNvSpPr txBox="1"/>
          <p:nvPr/>
        </p:nvSpPr>
        <p:spPr>
          <a:xfrm>
            <a:off x="6471416" y="4950375"/>
            <a:ext cx="4861604" cy="369332"/>
          </a:xfrm>
          <a:prstGeom prst="rect">
            <a:avLst/>
          </a:prstGeom>
          <a:noFill/>
        </p:spPr>
        <p:txBody>
          <a:bodyPr wrap="square" rtlCol="0">
            <a:spAutoFit/>
          </a:bodyPr>
          <a:lstStyle/>
          <a:p>
            <a:r>
              <a:rPr lang="en-US" altLang="zh-CN" dirty="0">
                <a:latin typeface="Helvetica" pitchFamily="2" charset="0"/>
              </a:rPr>
              <a:t>Appending learnable tokens for compression</a:t>
            </a:r>
          </a:p>
        </p:txBody>
      </p:sp>
      <p:sp>
        <p:nvSpPr>
          <p:cNvPr id="8" name="文本框 7">
            <a:extLst>
              <a:ext uri="{FF2B5EF4-FFF2-40B4-BE49-F238E27FC236}">
                <a16:creationId xmlns:a16="http://schemas.microsoft.com/office/drawing/2014/main" id="{0D86AE64-C28D-9957-ECD1-354938300DD0}"/>
              </a:ext>
            </a:extLst>
          </p:cNvPr>
          <p:cNvSpPr txBox="1"/>
          <p:nvPr/>
        </p:nvSpPr>
        <p:spPr>
          <a:xfrm>
            <a:off x="6471416" y="5506132"/>
            <a:ext cx="4861604" cy="369332"/>
          </a:xfrm>
          <a:prstGeom prst="rect">
            <a:avLst/>
          </a:prstGeom>
          <a:noFill/>
        </p:spPr>
        <p:txBody>
          <a:bodyPr wrap="square" rtlCol="0">
            <a:spAutoFit/>
          </a:bodyPr>
          <a:lstStyle/>
          <a:p>
            <a:r>
              <a:rPr lang="en-US" altLang="zh-CN" dirty="0">
                <a:latin typeface="Helvetica" pitchFamily="2" charset="0"/>
              </a:rPr>
              <a:t>These tokens are </a:t>
            </a:r>
            <a:r>
              <a:rPr lang="en-US" altLang="zh-CN" b="1" dirty="0">
                <a:latin typeface="Helvetica" pitchFamily="2" charset="0"/>
              </a:rPr>
              <a:t>emphasized</a:t>
            </a:r>
            <a:r>
              <a:rPr lang="en-US" altLang="zh-CN" dirty="0">
                <a:latin typeface="Helvetica" pitchFamily="2" charset="0"/>
              </a:rPr>
              <a:t> layer by layer</a:t>
            </a:r>
          </a:p>
        </p:txBody>
      </p:sp>
    </p:spTree>
    <p:extLst>
      <p:ext uri="{BB962C8B-B14F-4D97-AF65-F5344CB8AC3E}">
        <p14:creationId xmlns:p14="http://schemas.microsoft.com/office/powerpoint/2010/main" val="3511806867"/>
      </p:ext>
    </p:extLst>
  </p:cSld>
  <p:clrMapOvr>
    <a:masterClrMapping/>
  </p:clrMapOvr>
  <mc:AlternateContent xmlns:mc="http://schemas.openxmlformats.org/markup-compatibility/2006" xmlns:p14="http://schemas.microsoft.com/office/powerpoint/2010/main">
    <mc:Choice Requires="p14">
      <p:transition spd="slow" p14:dur="2000" advTm="41371"/>
    </mc:Choice>
    <mc:Fallback xmlns="">
      <p:transition spd="slow" advTm="4137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72F47-B8AA-01BA-73C7-C588027FC0D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F744B34-83D5-4F7E-C3F4-2F8D64D4F661}"/>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3EDAE3AF-DAEB-3DA9-717E-C3CA219D6F37}"/>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0EFE206D-CF3B-B173-A7B8-6B79A7CE7EA5}"/>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E3268844-5905-2D90-6795-A66D6C018221}"/>
              </a:ext>
            </a:extLst>
          </p:cNvPr>
          <p:cNvSpPr txBox="1"/>
          <p:nvPr/>
        </p:nvSpPr>
        <p:spPr>
          <a:xfrm>
            <a:off x="495099" y="4617854"/>
            <a:ext cx="8067010" cy="369332"/>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p:txBody>
      </p:sp>
      <p:pic>
        <p:nvPicPr>
          <p:cNvPr id="7" name="图形 6">
            <a:extLst>
              <a:ext uri="{FF2B5EF4-FFF2-40B4-BE49-F238E27FC236}">
                <a16:creationId xmlns:a16="http://schemas.microsoft.com/office/drawing/2014/main" id="{2ADB7196-4C10-5843-E50E-AB9FBFB480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7339BE1A-79CB-9030-17EC-284CA3985D20}"/>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16568CF8-4695-9BED-0BE6-5C4768FF7588}"/>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spTree>
    <p:extLst>
      <p:ext uri="{BB962C8B-B14F-4D97-AF65-F5344CB8AC3E}">
        <p14:creationId xmlns:p14="http://schemas.microsoft.com/office/powerpoint/2010/main" val="3039372068"/>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0CA9-7CB7-43D4-487F-7358AEC07FA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317E230-BE99-F166-67BA-37D1A085CF9B}"/>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6FE4AFF8-BDF5-CEF7-8116-1331D070D13B}"/>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5787221E-5AEC-B6FF-5DCD-71CF1A06A770}"/>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7CB4D692-160C-53E0-54B3-720A7E715D35}"/>
              </a:ext>
            </a:extLst>
          </p:cNvPr>
          <p:cNvSpPr txBox="1"/>
          <p:nvPr/>
        </p:nvSpPr>
        <p:spPr>
          <a:xfrm>
            <a:off x="495099" y="4617854"/>
            <a:ext cx="8067010" cy="646331"/>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p:txBody>
      </p:sp>
      <p:pic>
        <p:nvPicPr>
          <p:cNvPr id="7" name="图形 6">
            <a:extLst>
              <a:ext uri="{FF2B5EF4-FFF2-40B4-BE49-F238E27FC236}">
                <a16:creationId xmlns:a16="http://schemas.microsoft.com/office/drawing/2014/main" id="{13398439-04B3-B8B3-DAEC-89E9A4D4DC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FF5281B0-6865-6D4C-2802-4E0BBDE7C9C8}"/>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67192B92-37BB-13F4-ECB2-E26F8AE0CF67}"/>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6EF43E53-7E4F-F473-486C-739382EE0B14}"/>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84048503"/>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AF7ED-CE08-4407-BECC-CB4758FA56A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03D6923-692E-65DE-592F-C21A65E77709}"/>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BDFFE5A6-3613-48C3-99ED-2D600FE15A35}"/>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925AF7DE-CF1A-7145-30ED-BA72BA3CC155}"/>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3259C828-C09A-FBD5-6B04-C9C4A6593292}"/>
              </a:ext>
            </a:extLst>
          </p:cNvPr>
          <p:cNvSpPr txBox="1"/>
          <p:nvPr/>
        </p:nvSpPr>
        <p:spPr>
          <a:xfrm>
            <a:off x="495099" y="4617854"/>
            <a:ext cx="8067010" cy="1200329"/>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a:p>
            <a:r>
              <a:rPr lang="en-US" altLang="zh-CN" b="1" i="1" dirty="0">
                <a:latin typeface="Helvetica" pitchFamily="2" charset="0"/>
              </a:rPr>
              <a:t>Large gap </a:t>
            </a:r>
            <a:r>
              <a:rPr lang="en-US" altLang="zh-CN" i="1" dirty="0">
                <a:latin typeface="Helvetica" pitchFamily="2" charset="0"/>
              </a:rPr>
              <a:t>between </a:t>
            </a:r>
            <a:r>
              <a:rPr lang="en-US" altLang="zh-CN" b="1" i="1" dirty="0">
                <a:latin typeface="Helvetica" pitchFamily="2" charset="0"/>
              </a:rPr>
              <a:t>compressed semantics</a:t>
            </a:r>
            <a:r>
              <a:rPr lang="en-US" altLang="zh-CN" i="1" dirty="0">
                <a:latin typeface="Helvetica" pitchFamily="2" charset="0"/>
              </a:rPr>
              <a:t> and </a:t>
            </a:r>
            <a:r>
              <a:rPr lang="en-US" altLang="zh-CN" b="1" i="1" dirty="0">
                <a:latin typeface="Helvetica" pitchFamily="2" charset="0"/>
              </a:rPr>
              <a:t>input semantics </a:t>
            </a:r>
            <a:r>
              <a:rPr lang="en-US" altLang="zh-CN" dirty="0">
                <a:latin typeface="Helvetica" pitchFamily="2" charset="0"/>
              </a:rPr>
              <a:t>[2][3]</a:t>
            </a:r>
            <a:r>
              <a:rPr lang="en-US" altLang="zh-CN" i="1" dirty="0">
                <a:latin typeface="Helvetica" pitchFamily="2" charset="0"/>
              </a:rPr>
              <a:t>.</a:t>
            </a:r>
          </a:p>
          <a:p>
            <a:r>
              <a:rPr lang="en-US" altLang="zh-CN" i="1" dirty="0">
                <a:latin typeface="Helvetica" pitchFamily="2" charset="0"/>
              </a:rPr>
              <a:t>        </a:t>
            </a:r>
          </a:p>
        </p:txBody>
      </p:sp>
      <p:pic>
        <p:nvPicPr>
          <p:cNvPr id="7" name="图形 6">
            <a:extLst>
              <a:ext uri="{FF2B5EF4-FFF2-40B4-BE49-F238E27FC236}">
                <a16:creationId xmlns:a16="http://schemas.microsoft.com/office/drawing/2014/main" id="{10AABD7A-5767-2F22-7F54-63B3A5ED2F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177CA573-9F37-7A7F-76BC-AC590C86B929}"/>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664DC9AA-E038-E434-04D1-FA600C5FD7C4}"/>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EF439133-3B10-6329-7456-89B057997B19}"/>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28602921"/>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0D79-3F24-6985-199E-99A637D174D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F62DD89-CF69-D79F-0D04-9A85091E2604}"/>
              </a:ext>
            </a:extLst>
          </p:cNvPr>
          <p:cNvSpPr>
            <a:spLocks noGrp="1"/>
          </p:cNvSpPr>
          <p:nvPr>
            <p:ph type="title"/>
          </p:nvPr>
        </p:nvSpPr>
        <p:spPr/>
        <p:txBody>
          <a:bodyPr/>
          <a:lstStyle/>
          <a:p>
            <a:r>
              <a:rPr kumimoji="1" lang="en-US" altLang="zh-CN" b="1" dirty="0">
                <a:latin typeface="Helvetica" pitchFamily="2" charset="0"/>
              </a:rPr>
              <a:t>Introduction - Limitations &amp; Motivation</a:t>
            </a:r>
          </a:p>
        </p:txBody>
      </p:sp>
      <p:pic>
        <p:nvPicPr>
          <p:cNvPr id="2" name="图片 1">
            <a:extLst>
              <a:ext uri="{FF2B5EF4-FFF2-40B4-BE49-F238E27FC236}">
                <a16:creationId xmlns:a16="http://schemas.microsoft.com/office/drawing/2014/main" id="{7144C84A-61DF-56FF-5146-FF19011B9FA4}"/>
              </a:ext>
            </a:extLst>
          </p:cNvPr>
          <p:cNvPicPr>
            <a:picLocks noChangeAspect="1"/>
          </p:cNvPicPr>
          <p:nvPr/>
        </p:nvPicPr>
        <p:blipFill>
          <a:blip r:embed="rId3"/>
          <a:srcRect t="4689"/>
          <a:stretch>
            <a:fillRect/>
          </a:stretch>
        </p:blipFill>
        <p:spPr>
          <a:xfrm>
            <a:off x="123825" y="1431925"/>
            <a:ext cx="11899900" cy="2723515"/>
          </a:xfrm>
          <a:prstGeom prst="rect">
            <a:avLst/>
          </a:prstGeom>
        </p:spPr>
      </p:pic>
      <p:sp>
        <p:nvSpPr>
          <p:cNvPr id="4" name="文本框 3">
            <a:extLst>
              <a:ext uri="{FF2B5EF4-FFF2-40B4-BE49-F238E27FC236}">
                <a16:creationId xmlns:a16="http://schemas.microsoft.com/office/drawing/2014/main" id="{FF17B617-0D24-79D4-AB60-1905A296BA70}"/>
              </a:ext>
            </a:extLst>
          </p:cNvPr>
          <p:cNvSpPr txBox="1"/>
          <p:nvPr/>
        </p:nvSpPr>
        <p:spPr>
          <a:xfrm>
            <a:off x="3768090" y="4155440"/>
            <a:ext cx="5177155" cy="306705"/>
          </a:xfrm>
          <a:prstGeom prst="rect">
            <a:avLst/>
          </a:prstGeom>
          <a:noFill/>
        </p:spPr>
        <p:txBody>
          <a:bodyPr wrap="square" rtlCol="0">
            <a:spAutoFit/>
          </a:bodyPr>
          <a:lstStyle/>
          <a:p>
            <a:r>
              <a:rPr lang="en-US" altLang="zh-CN" sz="1400" dirty="0">
                <a:latin typeface="Helvetica" pitchFamily="2" charset="0"/>
              </a:rPr>
              <a:t>Visualization of the Attention Matrix for Qwen3-4B (Instruct) </a:t>
            </a:r>
          </a:p>
        </p:txBody>
      </p:sp>
      <p:sp>
        <p:nvSpPr>
          <p:cNvPr id="5" name="文本框 4">
            <a:extLst>
              <a:ext uri="{FF2B5EF4-FFF2-40B4-BE49-F238E27FC236}">
                <a16:creationId xmlns:a16="http://schemas.microsoft.com/office/drawing/2014/main" id="{998B0EC6-A5F2-54C9-2429-58F8067BD666}"/>
              </a:ext>
            </a:extLst>
          </p:cNvPr>
          <p:cNvSpPr txBox="1"/>
          <p:nvPr/>
        </p:nvSpPr>
        <p:spPr>
          <a:xfrm>
            <a:off x="495099" y="4617854"/>
            <a:ext cx="8067010" cy="1200329"/>
          </a:xfrm>
          <a:prstGeom prst="rect">
            <a:avLst/>
          </a:prstGeom>
          <a:noFill/>
        </p:spPr>
        <p:txBody>
          <a:bodyPr wrap="square" rtlCol="0">
            <a:spAutoFit/>
          </a:bodyPr>
          <a:lstStyle/>
          <a:p>
            <a:r>
              <a:rPr lang="en-US" altLang="zh-CN" b="1" i="1" dirty="0">
                <a:latin typeface="Helvetica" pitchFamily="2" charset="0"/>
              </a:rPr>
              <a:t>Semantic dominance </a:t>
            </a:r>
            <a:r>
              <a:rPr lang="en-US" altLang="zh-CN" i="1" dirty="0">
                <a:latin typeface="Helvetica" pitchFamily="2" charset="0"/>
              </a:rPr>
              <a:t>in autoencoder pretraining process.</a:t>
            </a:r>
          </a:p>
          <a:p>
            <a:r>
              <a:rPr lang="en-US" altLang="zh-CN" i="1" dirty="0">
                <a:latin typeface="Helvetica" pitchFamily="2" charset="0"/>
              </a:rPr>
              <a:t>        How to mitigate semantic dominance?</a:t>
            </a:r>
          </a:p>
          <a:p>
            <a:r>
              <a:rPr lang="en-US" altLang="zh-CN" b="1" i="1" dirty="0">
                <a:latin typeface="Helvetica" pitchFamily="2" charset="0"/>
              </a:rPr>
              <a:t>Large gap </a:t>
            </a:r>
            <a:r>
              <a:rPr lang="en-US" altLang="zh-CN" i="1" dirty="0">
                <a:latin typeface="Helvetica" pitchFamily="2" charset="0"/>
              </a:rPr>
              <a:t>between </a:t>
            </a:r>
            <a:r>
              <a:rPr lang="en-US" altLang="zh-CN" b="1" i="1" dirty="0">
                <a:latin typeface="Helvetica" pitchFamily="2" charset="0"/>
              </a:rPr>
              <a:t>compressed semantics</a:t>
            </a:r>
            <a:r>
              <a:rPr lang="en-US" altLang="zh-CN" i="1" dirty="0">
                <a:latin typeface="Helvetica" pitchFamily="2" charset="0"/>
              </a:rPr>
              <a:t> and </a:t>
            </a:r>
            <a:r>
              <a:rPr lang="en-US" altLang="zh-CN" b="1" i="1" dirty="0">
                <a:latin typeface="Helvetica" pitchFamily="2" charset="0"/>
              </a:rPr>
              <a:t>input semantics </a:t>
            </a:r>
            <a:r>
              <a:rPr lang="en-US" altLang="zh-CN" dirty="0">
                <a:latin typeface="Helvetica" pitchFamily="2" charset="0"/>
              </a:rPr>
              <a:t>[2][3]</a:t>
            </a:r>
            <a:r>
              <a:rPr lang="en-US" altLang="zh-CN" i="1" dirty="0">
                <a:latin typeface="Helvetica" pitchFamily="2" charset="0"/>
              </a:rPr>
              <a:t>.</a:t>
            </a:r>
          </a:p>
          <a:p>
            <a:r>
              <a:rPr lang="en-US" altLang="zh-CN" i="1" dirty="0">
                <a:latin typeface="Helvetica" pitchFamily="2" charset="0"/>
              </a:rPr>
              <a:t>        How to bridge the semantic gap?</a:t>
            </a:r>
          </a:p>
        </p:txBody>
      </p:sp>
      <p:pic>
        <p:nvPicPr>
          <p:cNvPr id="7" name="图形 6">
            <a:extLst>
              <a:ext uri="{FF2B5EF4-FFF2-40B4-BE49-F238E27FC236}">
                <a16:creationId xmlns:a16="http://schemas.microsoft.com/office/drawing/2014/main" id="{4D70003F-B942-E6DF-9DE7-838FCE7FDD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6" name="文本框 5">
            <a:extLst>
              <a:ext uri="{FF2B5EF4-FFF2-40B4-BE49-F238E27FC236}">
                <a16:creationId xmlns:a16="http://schemas.microsoft.com/office/drawing/2014/main" id="{21BE5E14-3A06-A9BF-8C71-B4F0A14C5748}"/>
              </a:ext>
            </a:extLst>
          </p:cNvPr>
          <p:cNvSpPr txBox="1"/>
          <p:nvPr/>
        </p:nvSpPr>
        <p:spPr>
          <a:xfrm>
            <a:off x="495099" y="6013219"/>
            <a:ext cx="11767135" cy="307777"/>
          </a:xfrm>
          <a:prstGeom prst="rect">
            <a:avLst/>
          </a:prstGeom>
          <a:noFill/>
        </p:spPr>
        <p:txBody>
          <a:bodyPr wrap="square">
            <a:spAutoFit/>
          </a:bodyPr>
          <a:lstStyle/>
          <a:p>
            <a:r>
              <a:rPr lang="en" altLang="zh-CN" sz="1400" dirty="0">
                <a:solidFill>
                  <a:srgbClr val="8B8B8B"/>
                </a:solidFill>
                <a:latin typeface="PingFang SC" panose="020B0400000000000000" pitchFamily="34" charset="-122"/>
                <a:ea typeface="PingFang SC" panose="020B0400000000000000" pitchFamily="34" charset="-122"/>
              </a:rPr>
              <a:t>[2] Liu</a:t>
            </a:r>
            <a:r>
              <a:rPr lang="en" altLang="zh-CN" sz="1400" b="0" i="0" dirty="0">
                <a:solidFill>
                  <a:srgbClr val="8B8B8B"/>
                </a:solidFill>
                <a:effectLst/>
                <a:latin typeface="PingFang SC" panose="020B0400000000000000" pitchFamily="34" charset="-122"/>
                <a:ea typeface="PingFang SC" panose="020B0400000000000000" pitchFamily="34" charset="-122"/>
              </a:rPr>
              <a:t> et al., </a:t>
            </a:r>
            <a:r>
              <a:rPr lang="en" altLang="zh-CN" sz="1400" dirty="0">
                <a:solidFill>
                  <a:srgbClr val="8B8B8B"/>
                </a:solidFill>
                <a:ea typeface="PingFang SC" panose="020B0400000000000000" pitchFamily="34" charset="-122"/>
              </a:rPr>
              <a:t>Fantastic Semantics and Where to Find Them: Investigating Which Layers of Generative LLMs Reflect Lexical Semantics</a:t>
            </a:r>
            <a:r>
              <a:rPr lang="en-US" altLang="zh-CN" sz="1400" dirty="0">
                <a:solidFill>
                  <a:srgbClr val="8B8B8B"/>
                </a:solidFill>
                <a:ea typeface="PingFang SC" panose="020B0400000000000000" pitchFamily="34" charset="-122"/>
              </a:rPr>
              <a:t>,  ACL 2024 Findings.</a:t>
            </a:r>
            <a:endParaRPr lang="en" altLang="zh-CN" sz="1400" dirty="0">
              <a:solidFill>
                <a:srgbClr val="8B8B8B"/>
              </a:solidFill>
              <a:ea typeface="PingFang SC" panose="020B0400000000000000" pitchFamily="34" charset="-122"/>
            </a:endParaRPr>
          </a:p>
        </p:txBody>
      </p:sp>
      <p:sp>
        <p:nvSpPr>
          <p:cNvPr id="8" name="文本框 7">
            <a:extLst>
              <a:ext uri="{FF2B5EF4-FFF2-40B4-BE49-F238E27FC236}">
                <a16:creationId xmlns:a16="http://schemas.microsoft.com/office/drawing/2014/main" id="{9F9608CC-C1CF-C074-05D8-4E78BBFB35A6}"/>
              </a:ext>
            </a:extLst>
          </p:cNvPr>
          <p:cNvSpPr txBox="1"/>
          <p:nvPr/>
        </p:nvSpPr>
        <p:spPr>
          <a:xfrm>
            <a:off x="495099" y="6280597"/>
            <a:ext cx="11767135" cy="307777"/>
          </a:xfrm>
          <a:prstGeom prst="rect">
            <a:avLst/>
          </a:prstGeom>
          <a:noFill/>
        </p:spPr>
        <p:txBody>
          <a:bodyPr wrap="square">
            <a:spAutoFit/>
          </a:bodyPr>
          <a:lstStyle/>
          <a:p>
            <a:r>
              <a:rPr lang="en" altLang="zh-CN" sz="1400" b="0" i="0" dirty="0">
                <a:solidFill>
                  <a:srgbClr val="8B8B8B"/>
                </a:solidFill>
                <a:effectLst/>
                <a:latin typeface="PingFang SC" panose="020B0400000000000000" pitchFamily="34" charset="-122"/>
                <a:ea typeface="PingFang SC" panose="020B0400000000000000" pitchFamily="34" charset="-122"/>
              </a:rPr>
              <a:t>[3] Jin et al., </a:t>
            </a:r>
            <a:r>
              <a:rPr lang="en" altLang="zh-CN" sz="1400" dirty="0">
                <a:solidFill>
                  <a:srgbClr val="8B8B8B"/>
                </a:solidFill>
                <a:ea typeface="PingFang SC" panose="020B0400000000000000" pitchFamily="34" charset="-122"/>
              </a:rPr>
              <a:t>Exploring Concept Depth: How Large Language Models Acquire Knowledge and Concept at Different Layers? </a:t>
            </a:r>
            <a:r>
              <a:rPr lang="en-US" altLang="zh-CN" sz="1400" dirty="0">
                <a:solidFill>
                  <a:srgbClr val="8B8B8B"/>
                </a:solidFill>
                <a:ea typeface="PingFang SC" panose="020B0400000000000000" pitchFamily="34" charset="-122"/>
              </a:rPr>
              <a:t>COLING 2025.</a:t>
            </a:r>
            <a:endParaRPr lang="en" altLang="zh-CN" sz="1400" dirty="0">
              <a:solidFill>
                <a:srgbClr val="8B8B8B"/>
              </a:solidFill>
              <a:ea typeface="PingFang SC" panose="020B0400000000000000" pitchFamily="34" charset="-122"/>
            </a:endParaRPr>
          </a:p>
        </p:txBody>
      </p:sp>
      <p:cxnSp>
        <p:nvCxnSpPr>
          <p:cNvPr id="10" name="直线箭头连接符 9">
            <a:extLst>
              <a:ext uri="{FF2B5EF4-FFF2-40B4-BE49-F238E27FC236}">
                <a16:creationId xmlns:a16="http://schemas.microsoft.com/office/drawing/2014/main" id="{CA6C0633-63EC-7DBC-4217-CF1E383C7FE5}"/>
              </a:ext>
            </a:extLst>
          </p:cNvPr>
          <p:cNvCxnSpPr/>
          <p:nvPr/>
        </p:nvCxnSpPr>
        <p:spPr>
          <a:xfrm>
            <a:off x="647500" y="5071300"/>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1" name="直线箭头连接符 10">
            <a:extLst>
              <a:ext uri="{FF2B5EF4-FFF2-40B4-BE49-F238E27FC236}">
                <a16:creationId xmlns:a16="http://schemas.microsoft.com/office/drawing/2014/main" id="{DD98FE7D-D53D-B258-FCA7-9520B3AF2BB7}"/>
              </a:ext>
            </a:extLst>
          </p:cNvPr>
          <p:cNvCxnSpPr/>
          <p:nvPr/>
        </p:nvCxnSpPr>
        <p:spPr>
          <a:xfrm>
            <a:off x="661355" y="5625481"/>
            <a:ext cx="374415"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51215244"/>
      </p:ext>
    </p:extLst>
  </p:cSld>
  <p:clrMapOvr>
    <a:masterClrMapping/>
  </p:clrMapOvr>
  <mc:AlternateContent xmlns:mc="http://schemas.openxmlformats.org/markup-compatibility/2006" xmlns:p14="http://schemas.microsoft.com/office/powerpoint/2010/main">
    <mc:Choice Requires="p14">
      <p:transition spd="slow" p14:dur="2000" advTm="18082"/>
    </mc:Choice>
    <mc:Fallback xmlns="">
      <p:transition spd="slow" advTm="1808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2A5-55CC-37AF-7EA0-9390495EDAF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24E6BC0-8B0B-7843-AE0A-F6B1BBACAAE0}"/>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5721E11-EB53-5B60-94C0-82E38A484546}"/>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C9962DCD-4A7F-969F-D0F8-466327236799}"/>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C94829C6-9065-03B0-C549-7E629F0F8B07}"/>
              </a:ext>
            </a:extLst>
          </p:cNvPr>
          <p:cNvSpPr txBox="1"/>
          <p:nvPr/>
        </p:nvSpPr>
        <p:spPr>
          <a:xfrm>
            <a:off x="698137" y="2556598"/>
            <a:ext cx="4962434" cy="707886"/>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p:txBody>
      </p:sp>
      <p:pic>
        <p:nvPicPr>
          <p:cNvPr id="4" name="图形 3">
            <a:extLst>
              <a:ext uri="{FF2B5EF4-FFF2-40B4-BE49-F238E27FC236}">
                <a16:creationId xmlns:a16="http://schemas.microsoft.com/office/drawing/2014/main" id="{5996A160-2981-2702-99C7-1E651F2BC7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1557779302"/>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12C9F-CD8A-8D76-958E-E79E3742AEE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1D921B7-F274-0EC2-A2DD-2D87351B015C}"/>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C971FD6-60A5-2358-FCFA-E3C2DE461397}"/>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E42DBD54-6C9A-E444-31B9-7CF90DBFF923}"/>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2F60B563-5599-DB92-D51B-9DAD224D3E01}"/>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pic>
        <p:nvPicPr>
          <p:cNvPr id="4" name="图形 3">
            <a:extLst>
              <a:ext uri="{FF2B5EF4-FFF2-40B4-BE49-F238E27FC236}">
                <a16:creationId xmlns:a16="http://schemas.microsoft.com/office/drawing/2014/main" id="{64456C4F-A136-BFB6-5859-F661A6B536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327388831"/>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8A99-5196-7501-2B87-BF352ABF786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741F580-B6CC-2B9B-7ECE-BC9B6065ADE0}"/>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2A17A0F4-3B0A-5ADB-2A90-B48316E3CB79}"/>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F6611FE6-AFF4-23A7-C345-189A0D3CD099}"/>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D4F08B28-0DB5-DB01-84C5-1CEB2162DEA3}"/>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sp>
        <p:nvSpPr>
          <p:cNvPr id="11" name="文本框 10">
            <a:extLst>
              <a:ext uri="{FF2B5EF4-FFF2-40B4-BE49-F238E27FC236}">
                <a16:creationId xmlns:a16="http://schemas.microsoft.com/office/drawing/2014/main" id="{94090B85-44C0-853C-E2FB-4924D2DF036E}"/>
              </a:ext>
            </a:extLst>
          </p:cNvPr>
          <p:cNvSpPr txBox="1"/>
          <p:nvPr/>
        </p:nvSpPr>
        <p:spPr>
          <a:xfrm>
            <a:off x="698135" y="4111167"/>
            <a:ext cx="5438775" cy="984885"/>
          </a:xfrm>
          <a:prstGeom prst="rect">
            <a:avLst/>
          </a:prstGeom>
          <a:noFill/>
        </p:spPr>
        <p:txBody>
          <a:bodyPr wrap="square" rtlCol="0">
            <a:spAutoFit/>
          </a:bodyPr>
          <a:lstStyle/>
          <a:p>
            <a:r>
              <a:rPr lang="en-US" altLang="zh-CN" b="1" dirty="0"/>
              <a:t>Layer Semantic Alignment (LSA)</a:t>
            </a:r>
            <a:endParaRPr lang="en-US" altLang="zh-CN" dirty="0"/>
          </a:p>
          <a:p>
            <a:r>
              <a:rPr lang="zh-CN" altLang="zh-CN" sz="2000" dirty="0"/>
              <a:t>Lightweight module </a:t>
            </a:r>
            <a:r>
              <a:rPr lang="en" altLang="zh-CN" sz="2000" dirty="0"/>
              <a:t>inheriting </a:t>
            </a:r>
            <a:r>
              <a:rPr lang="zh-CN" altLang="zh-CN" sz="2000" dirty="0"/>
              <a:t>low-level semantics</a:t>
            </a:r>
            <a:endParaRPr lang="en-US" altLang="zh-CN" sz="2000" dirty="0"/>
          </a:p>
          <a:p>
            <a:r>
              <a:rPr lang="en-US" altLang="zh-CN" sz="2000" dirty="0"/>
              <a:t> </a:t>
            </a:r>
          </a:p>
        </p:txBody>
      </p:sp>
      <p:pic>
        <p:nvPicPr>
          <p:cNvPr id="4" name="图形 3">
            <a:extLst>
              <a:ext uri="{FF2B5EF4-FFF2-40B4-BE49-F238E27FC236}">
                <a16:creationId xmlns:a16="http://schemas.microsoft.com/office/drawing/2014/main" id="{41BF705C-3BFD-BC1B-BFA3-4266971687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4279759878"/>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E5EE-DCF9-A253-530B-866EB5DE666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94548E4-1F97-61F1-063D-80EB165D3961}"/>
              </a:ext>
            </a:extLst>
          </p:cNvPr>
          <p:cNvSpPr>
            <a:spLocks noGrp="1"/>
          </p:cNvSpPr>
          <p:nvPr>
            <p:ph type="title"/>
          </p:nvPr>
        </p:nvSpPr>
        <p:spPr/>
        <p:txBody>
          <a:bodyPr/>
          <a:lstStyle/>
          <a:p>
            <a:r>
              <a:rPr kumimoji="1" lang="en-US" altLang="zh-CN" b="1" dirty="0">
                <a:latin typeface="Helvetica" pitchFamily="2" charset="0"/>
              </a:rPr>
              <a:t>Introduction - GMSA</a:t>
            </a:r>
          </a:p>
        </p:txBody>
      </p:sp>
      <p:pic>
        <p:nvPicPr>
          <p:cNvPr id="6" name="图片 5">
            <a:extLst>
              <a:ext uri="{FF2B5EF4-FFF2-40B4-BE49-F238E27FC236}">
                <a16:creationId xmlns:a16="http://schemas.microsoft.com/office/drawing/2014/main" id="{C4D9DF59-A759-4A5D-05A6-EF8CD17F7B85}"/>
              </a:ext>
            </a:extLst>
          </p:cNvPr>
          <p:cNvPicPr>
            <a:picLocks noChangeAspect="1"/>
          </p:cNvPicPr>
          <p:nvPr/>
        </p:nvPicPr>
        <p:blipFill>
          <a:blip r:embed="rId3"/>
          <a:stretch>
            <a:fillRect/>
          </a:stretch>
        </p:blipFill>
        <p:spPr>
          <a:xfrm>
            <a:off x="6095365" y="2141391"/>
            <a:ext cx="5438775" cy="3064269"/>
          </a:xfrm>
          <a:prstGeom prst="rect">
            <a:avLst/>
          </a:prstGeom>
        </p:spPr>
      </p:pic>
      <p:sp>
        <p:nvSpPr>
          <p:cNvPr id="8" name="文本框 7">
            <a:extLst>
              <a:ext uri="{FF2B5EF4-FFF2-40B4-BE49-F238E27FC236}">
                <a16:creationId xmlns:a16="http://schemas.microsoft.com/office/drawing/2014/main" id="{A9597F7B-A3C1-7A07-55BE-EB1EC50EF9A5}"/>
              </a:ext>
            </a:extLst>
          </p:cNvPr>
          <p:cNvSpPr txBox="1"/>
          <p:nvPr/>
        </p:nvSpPr>
        <p:spPr>
          <a:xfrm>
            <a:off x="7811135" y="5205660"/>
            <a:ext cx="2106930" cy="306705"/>
          </a:xfrm>
          <a:prstGeom prst="rect">
            <a:avLst/>
          </a:prstGeom>
          <a:noFill/>
        </p:spPr>
        <p:txBody>
          <a:bodyPr wrap="square" rtlCol="0">
            <a:spAutoFit/>
          </a:bodyPr>
          <a:lstStyle/>
          <a:p>
            <a:r>
              <a:rPr lang="en-US" altLang="zh-CN" sz="1400"/>
              <a:t>Compression by GMSA</a:t>
            </a:r>
          </a:p>
        </p:txBody>
      </p:sp>
      <p:sp>
        <p:nvSpPr>
          <p:cNvPr id="9" name="文本框 8">
            <a:extLst>
              <a:ext uri="{FF2B5EF4-FFF2-40B4-BE49-F238E27FC236}">
                <a16:creationId xmlns:a16="http://schemas.microsoft.com/office/drawing/2014/main" id="{339E1C28-E85A-E361-0B6D-E87D1DF24776}"/>
              </a:ext>
            </a:extLst>
          </p:cNvPr>
          <p:cNvSpPr txBox="1"/>
          <p:nvPr/>
        </p:nvSpPr>
        <p:spPr>
          <a:xfrm>
            <a:off x="698137" y="2556598"/>
            <a:ext cx="4962434" cy="1323439"/>
          </a:xfrm>
          <a:prstGeom prst="rect">
            <a:avLst/>
          </a:prstGeom>
          <a:noFill/>
        </p:spPr>
        <p:txBody>
          <a:bodyPr wrap="square" rtlCol="0">
            <a:spAutoFit/>
          </a:bodyPr>
          <a:lstStyle/>
          <a:p>
            <a:r>
              <a:rPr lang="en-US" altLang="zh-CN" sz="2000" b="1" dirty="0">
                <a:sym typeface="+mn-ea"/>
              </a:rPr>
              <a:t>Group Merging</a:t>
            </a:r>
            <a:r>
              <a:rPr lang="en-US" altLang="zh-CN" sz="2000" dirty="0"/>
              <a:t> </a:t>
            </a:r>
          </a:p>
          <a:p>
            <a:r>
              <a:rPr lang="en-US" altLang="zh-CN" sz="2000" dirty="0"/>
              <a:t>Equal Sized Split </a:t>
            </a:r>
            <a:r>
              <a:rPr lang="zh-CN" altLang="zh-CN" sz="2000" dirty="0"/>
              <a:t>→</a:t>
            </a:r>
            <a:r>
              <a:rPr lang="en-US" altLang="zh-CN" sz="2000" dirty="0"/>
              <a:t> Average Pooling</a:t>
            </a:r>
          </a:p>
          <a:p>
            <a:r>
              <a:rPr lang="en-US" altLang="zh-CN" sz="2000" i="1" dirty="0"/>
              <a:t>Reduce semantic dominance, preserving more complete semantics</a:t>
            </a:r>
          </a:p>
        </p:txBody>
      </p:sp>
      <p:sp>
        <p:nvSpPr>
          <p:cNvPr id="11" name="文本框 10">
            <a:extLst>
              <a:ext uri="{FF2B5EF4-FFF2-40B4-BE49-F238E27FC236}">
                <a16:creationId xmlns:a16="http://schemas.microsoft.com/office/drawing/2014/main" id="{BC861564-3AF5-D2BC-9B3D-7133A249E4F4}"/>
              </a:ext>
            </a:extLst>
          </p:cNvPr>
          <p:cNvSpPr txBox="1"/>
          <p:nvPr/>
        </p:nvSpPr>
        <p:spPr>
          <a:xfrm>
            <a:off x="698135" y="4111167"/>
            <a:ext cx="5438775" cy="984885"/>
          </a:xfrm>
          <a:prstGeom prst="rect">
            <a:avLst/>
          </a:prstGeom>
          <a:noFill/>
        </p:spPr>
        <p:txBody>
          <a:bodyPr wrap="square" rtlCol="0">
            <a:spAutoFit/>
          </a:bodyPr>
          <a:lstStyle/>
          <a:p>
            <a:r>
              <a:rPr lang="en-US" altLang="zh-CN" b="1" dirty="0"/>
              <a:t>Layer Semantic Alignment (LSA)</a:t>
            </a:r>
            <a:endParaRPr lang="en-US" altLang="zh-CN" dirty="0"/>
          </a:p>
          <a:p>
            <a:r>
              <a:rPr lang="zh-CN" altLang="zh-CN" sz="2000" dirty="0"/>
              <a:t>Lightweight module </a:t>
            </a:r>
            <a:r>
              <a:rPr lang="en" altLang="zh-CN" sz="2000" dirty="0"/>
              <a:t>inheriting </a:t>
            </a:r>
            <a:r>
              <a:rPr lang="zh-CN" altLang="zh-CN" sz="2000" dirty="0"/>
              <a:t>low-level semantics.</a:t>
            </a:r>
            <a:endParaRPr lang="en-US" altLang="zh-CN" sz="2000" dirty="0"/>
          </a:p>
          <a:p>
            <a:r>
              <a:rPr lang="en-US" altLang="zh-CN" sz="2000" i="1" dirty="0"/>
              <a:t>Align compressed semantics and input semantics.</a:t>
            </a:r>
            <a:r>
              <a:rPr lang="en-US" altLang="zh-CN" sz="2000" dirty="0"/>
              <a:t> </a:t>
            </a:r>
          </a:p>
        </p:txBody>
      </p:sp>
      <p:pic>
        <p:nvPicPr>
          <p:cNvPr id="4" name="图形 3">
            <a:extLst>
              <a:ext uri="{FF2B5EF4-FFF2-40B4-BE49-F238E27FC236}">
                <a16:creationId xmlns:a16="http://schemas.microsoft.com/office/drawing/2014/main" id="{FA33B84A-8D21-B9A0-D0CB-63600207B4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676035458"/>
      </p:ext>
    </p:extLst>
  </p:cSld>
  <p:clrMapOvr>
    <a:masterClrMapping/>
  </p:clrMapOvr>
  <mc:AlternateContent xmlns:mc="http://schemas.openxmlformats.org/markup-compatibility/2006" xmlns:p14="http://schemas.microsoft.com/office/powerpoint/2010/main">
    <mc:Choice Requires="p14">
      <p:transition spd="slow" p14:dur="2000" advTm="17735"/>
    </mc:Choice>
    <mc:Fallback xmlns="">
      <p:transition spd="slow" advTm="1773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Method - Training Paradigm</a:t>
            </a:r>
          </a:p>
        </p:txBody>
      </p:sp>
      <p:pic>
        <p:nvPicPr>
          <p:cNvPr id="2" name="图片 1"/>
          <p:cNvPicPr>
            <a:picLocks noChangeAspect="1"/>
          </p:cNvPicPr>
          <p:nvPr/>
        </p:nvPicPr>
        <p:blipFill>
          <a:blip r:embed="rId3"/>
          <a:srcRect b="889"/>
          <a:stretch>
            <a:fillRect/>
          </a:stretch>
        </p:blipFill>
        <p:spPr>
          <a:xfrm>
            <a:off x="448945" y="1438910"/>
            <a:ext cx="6177915" cy="4175125"/>
          </a:xfrm>
          <a:prstGeom prst="rect">
            <a:avLst/>
          </a:prstGeom>
        </p:spPr>
      </p:pic>
      <p:pic>
        <p:nvPicPr>
          <p:cNvPr id="4" name="图片 3"/>
          <p:cNvPicPr>
            <a:picLocks noChangeAspect="1"/>
          </p:cNvPicPr>
          <p:nvPr/>
        </p:nvPicPr>
        <p:blipFill>
          <a:blip r:embed="rId4"/>
          <a:stretch>
            <a:fillRect/>
          </a:stretch>
        </p:blipFill>
        <p:spPr>
          <a:xfrm>
            <a:off x="7038975" y="1406525"/>
            <a:ext cx="4798695" cy="4277995"/>
          </a:xfrm>
          <a:prstGeom prst="rect">
            <a:avLst/>
          </a:prstGeom>
        </p:spPr>
      </p:pic>
      <p:sp>
        <p:nvSpPr>
          <p:cNvPr id="5" name="文本框 4"/>
          <p:cNvSpPr txBox="1"/>
          <p:nvPr/>
        </p:nvSpPr>
        <p:spPr>
          <a:xfrm>
            <a:off x="270510" y="5818505"/>
            <a:ext cx="11567795" cy="645160"/>
          </a:xfrm>
          <a:prstGeom prst="rect">
            <a:avLst/>
          </a:prstGeom>
          <a:noFill/>
        </p:spPr>
        <p:txBody>
          <a:bodyPr wrap="square" rtlCol="0" anchor="t">
            <a:spAutoFit/>
          </a:bodyPr>
          <a:lstStyle/>
          <a:p>
            <a:r>
              <a:rPr lang="en-US" altLang="zh-CN" b="1" dirty="0">
                <a:latin typeface="Helvetica" pitchFamily="2" charset="0"/>
              </a:rPr>
              <a:t>Stage I:</a:t>
            </a:r>
            <a:r>
              <a:rPr lang="en-US" altLang="zh-CN" dirty="0">
                <a:latin typeface="Helvetica" pitchFamily="2" charset="0"/>
              </a:rPr>
              <a:t> </a:t>
            </a:r>
            <a:r>
              <a:rPr lang="en-US" altLang="zh-CN" b="1" dirty="0">
                <a:latin typeface="Helvetica" pitchFamily="2" charset="0"/>
              </a:rPr>
              <a:t>Autoencoder Training</a:t>
            </a:r>
            <a:r>
              <a:rPr lang="en-US" altLang="zh-CN" dirty="0">
                <a:latin typeface="Helvetica" pitchFamily="2" charset="0"/>
              </a:rPr>
              <a:t>, aimed at preserving comprehensive semantic information. </a:t>
            </a:r>
          </a:p>
          <a:p>
            <a:r>
              <a:rPr lang="en-US" altLang="zh-CN" b="1" dirty="0">
                <a:latin typeface="Helvetica" pitchFamily="2" charset="0"/>
              </a:rPr>
              <a:t>Stage II:</a:t>
            </a:r>
            <a:r>
              <a:rPr lang="en-US" altLang="zh-CN" dirty="0">
                <a:latin typeface="Helvetica" pitchFamily="2" charset="0"/>
              </a:rPr>
              <a:t> </a:t>
            </a:r>
            <a:r>
              <a:rPr lang="en-US" altLang="zh-CN" b="1" dirty="0">
                <a:latin typeface="Helvetica" pitchFamily="2" charset="0"/>
              </a:rPr>
              <a:t>Fine-tuning</a:t>
            </a:r>
            <a:r>
              <a:rPr lang="en-US" altLang="zh-CN" dirty="0">
                <a:latin typeface="Helvetica" pitchFamily="2" charset="0"/>
              </a:rPr>
              <a:t>, designed to adapt the model to downstream tasks.</a:t>
            </a:r>
            <a:endParaRPr lang="zh-CN" altLang="en-US" dirty="0">
              <a:latin typeface="Helvetica" pitchFamily="2" charset="0"/>
            </a:endParaRPr>
          </a:p>
        </p:txBody>
      </p:sp>
      <p:pic>
        <p:nvPicPr>
          <p:cNvPr id="7" name="图形 6">
            <a:extLst>
              <a:ext uri="{FF2B5EF4-FFF2-40B4-BE49-F238E27FC236}">
                <a16:creationId xmlns:a16="http://schemas.microsoft.com/office/drawing/2014/main" id="{0CA5231B-5009-C9DA-E69A-4E350EBCB7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570"/>
    </mc:Choice>
    <mc:Fallback xmlns="">
      <p:transition spd="slow" advTm="30570"/>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270510" y="87630"/>
            <a:ext cx="11271885" cy="1015365"/>
          </a:xfrm>
        </p:spPr>
        <p:txBody>
          <a:bodyPr/>
          <a:lstStyle/>
          <a:p>
            <a:r>
              <a:rPr kumimoji="1" lang="en-US" altLang="zh-CN" b="1" dirty="0">
                <a:latin typeface="Helvetica" pitchFamily="2" charset="0"/>
              </a:rPr>
              <a:t>Result and Analysis - Impact of Different Layers of LSA</a:t>
            </a:r>
          </a:p>
        </p:txBody>
      </p:sp>
      <p:pic>
        <p:nvPicPr>
          <p:cNvPr id="6" name="图片 5"/>
          <p:cNvPicPr>
            <a:picLocks noChangeAspect="1"/>
          </p:cNvPicPr>
          <p:nvPr/>
        </p:nvPicPr>
        <p:blipFill>
          <a:blip r:embed="rId3"/>
          <a:stretch>
            <a:fillRect/>
          </a:stretch>
        </p:blipFill>
        <p:spPr>
          <a:xfrm>
            <a:off x="1967411" y="1256937"/>
            <a:ext cx="7887789" cy="4772259"/>
          </a:xfrm>
          <a:prstGeom prst="rect">
            <a:avLst/>
          </a:prstGeom>
        </p:spPr>
      </p:pic>
      <p:pic>
        <p:nvPicPr>
          <p:cNvPr id="4" name="图形 3">
            <a:extLst>
              <a:ext uri="{FF2B5EF4-FFF2-40B4-BE49-F238E27FC236}">
                <a16:creationId xmlns:a16="http://schemas.microsoft.com/office/drawing/2014/main" id="{B3BF1242-305F-95CB-4FEA-33A450436F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5" name="文本框 4">
            <a:extLst>
              <a:ext uri="{FF2B5EF4-FFF2-40B4-BE49-F238E27FC236}">
                <a16:creationId xmlns:a16="http://schemas.microsoft.com/office/drawing/2014/main" id="{72855F5E-1FDA-89B5-2DFE-C0FD8862AE45}"/>
              </a:ext>
            </a:extLst>
          </p:cNvPr>
          <p:cNvSpPr txBox="1"/>
          <p:nvPr/>
        </p:nvSpPr>
        <p:spPr>
          <a:xfrm>
            <a:off x="2801257" y="6029196"/>
            <a:ext cx="6589486" cy="369332"/>
          </a:xfrm>
          <a:prstGeom prst="rect">
            <a:avLst/>
          </a:prstGeom>
          <a:noFill/>
        </p:spPr>
        <p:txBody>
          <a:bodyPr wrap="square">
            <a:spAutoFit/>
          </a:bodyPr>
          <a:lstStyle/>
          <a:p>
            <a:r>
              <a:rPr lang="en" altLang="zh-CN" dirty="0">
                <a:latin typeface="Helvetica" pitchFamily="2" charset="0"/>
              </a:rPr>
              <a:t>Surprisingly, </a:t>
            </a:r>
            <a:r>
              <a:rPr lang="en" altLang="zh-CN" sz="1800" b="0" kern="1200" dirty="0">
                <a:solidFill>
                  <a:schemeClr val="tx1"/>
                </a:solidFill>
                <a:effectLst/>
                <a:latin typeface="Helvetica" pitchFamily="2" charset="0"/>
              </a:rPr>
              <a:t>only 1 layer of LSA</a:t>
            </a:r>
            <a:r>
              <a:rPr lang="en" altLang="zh-CN" dirty="0">
                <a:latin typeface="Helvetica" pitchFamily="2" charset="0"/>
              </a:rPr>
              <a:t> achieves the best performance.</a:t>
            </a:r>
          </a:p>
        </p:txBody>
      </p:sp>
    </p:spTree>
    <p:extLst>
      <p:ext uri="{BB962C8B-B14F-4D97-AF65-F5344CB8AC3E}">
        <p14:creationId xmlns:p14="http://schemas.microsoft.com/office/powerpoint/2010/main" val="2516710567"/>
      </p:ext>
    </p:extLst>
  </p:cSld>
  <p:clrMapOvr>
    <a:masterClrMapping/>
  </p:clrMapOvr>
  <mc:AlternateContent xmlns:mc="http://schemas.openxmlformats.org/markup-compatibility/2006" xmlns:p14="http://schemas.microsoft.com/office/powerpoint/2010/main">
    <mc:Choice Requires="p14">
      <p:transition spd="slow" p14:dur="2000" advTm="9873"/>
    </mc:Choice>
    <mc:Fallback xmlns="">
      <p:transition spd="slow" advTm="987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Context Restoration</a:t>
            </a:r>
          </a:p>
        </p:txBody>
      </p:sp>
      <p:pic>
        <p:nvPicPr>
          <p:cNvPr id="6" name="图片 5"/>
          <p:cNvPicPr>
            <a:picLocks noChangeAspect="1"/>
          </p:cNvPicPr>
          <p:nvPr/>
        </p:nvPicPr>
        <p:blipFill>
          <a:blip r:embed="rId3"/>
          <a:stretch>
            <a:fillRect/>
          </a:stretch>
        </p:blipFill>
        <p:spPr>
          <a:xfrm>
            <a:off x="2050505" y="1355636"/>
            <a:ext cx="7775666" cy="4688372"/>
          </a:xfrm>
          <a:prstGeom prst="rect">
            <a:avLst/>
          </a:prstGeom>
        </p:spPr>
      </p:pic>
      <p:pic>
        <p:nvPicPr>
          <p:cNvPr id="4" name="图形 3">
            <a:extLst>
              <a:ext uri="{FF2B5EF4-FFF2-40B4-BE49-F238E27FC236}">
                <a16:creationId xmlns:a16="http://schemas.microsoft.com/office/drawing/2014/main" id="{43353B1B-ACC9-E636-82AF-BB60952BB5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
        <p:nvSpPr>
          <p:cNvPr id="5" name="文本框 4">
            <a:extLst>
              <a:ext uri="{FF2B5EF4-FFF2-40B4-BE49-F238E27FC236}">
                <a16:creationId xmlns:a16="http://schemas.microsoft.com/office/drawing/2014/main" id="{3D6749DA-319C-BBED-2B91-8BB392CEF399}"/>
              </a:ext>
            </a:extLst>
          </p:cNvPr>
          <p:cNvSpPr txBox="1"/>
          <p:nvPr/>
        </p:nvSpPr>
        <p:spPr>
          <a:xfrm>
            <a:off x="2021114" y="6112029"/>
            <a:ext cx="8149771" cy="369332"/>
          </a:xfrm>
          <a:prstGeom prst="rect">
            <a:avLst/>
          </a:prstGeom>
          <a:noFill/>
        </p:spPr>
        <p:txBody>
          <a:bodyPr wrap="square">
            <a:spAutoFit/>
          </a:bodyPr>
          <a:lstStyle/>
          <a:p>
            <a:r>
              <a:rPr lang="zh-CN" altLang="zh-CN" dirty="0">
                <a:latin typeface="Helvetica" pitchFamily="2" charset="0"/>
              </a:rPr>
              <a:t>GMSA–AE outperforms the baseline on both token-level and semantic metrics.</a:t>
            </a:r>
            <a:endParaRPr lang="zh-CN" altLang="en-US" dirty="0">
              <a:latin typeface="Helvetica" pitchFamily="2"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1305"/>
    </mc:Choice>
    <mc:Fallback xmlns="">
      <p:transition spd="slow" advTm="2130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Downstream Tasks</a:t>
            </a:r>
          </a:p>
        </p:txBody>
      </p:sp>
      <p:pic>
        <p:nvPicPr>
          <p:cNvPr id="2" name="图片 1"/>
          <p:cNvPicPr>
            <a:picLocks noChangeAspect="1"/>
          </p:cNvPicPr>
          <p:nvPr/>
        </p:nvPicPr>
        <p:blipFill>
          <a:blip r:embed="rId3"/>
          <a:stretch>
            <a:fillRect/>
          </a:stretch>
        </p:blipFill>
        <p:spPr>
          <a:xfrm>
            <a:off x="434340" y="1821180"/>
            <a:ext cx="5747385" cy="3373755"/>
          </a:xfrm>
          <a:prstGeom prst="rect">
            <a:avLst/>
          </a:prstGeom>
        </p:spPr>
      </p:pic>
      <p:pic>
        <p:nvPicPr>
          <p:cNvPr id="4" name="图片 3"/>
          <p:cNvPicPr>
            <a:picLocks noChangeAspect="1"/>
          </p:cNvPicPr>
          <p:nvPr/>
        </p:nvPicPr>
        <p:blipFill>
          <a:blip r:embed="rId4"/>
          <a:stretch>
            <a:fillRect/>
          </a:stretch>
        </p:blipFill>
        <p:spPr>
          <a:xfrm>
            <a:off x="6264910" y="1893570"/>
            <a:ext cx="5661660" cy="424180"/>
          </a:xfrm>
          <a:prstGeom prst="rect">
            <a:avLst/>
          </a:prstGeom>
        </p:spPr>
      </p:pic>
      <p:pic>
        <p:nvPicPr>
          <p:cNvPr id="5" name="图片 4"/>
          <p:cNvPicPr>
            <a:picLocks noChangeAspect="1"/>
          </p:cNvPicPr>
          <p:nvPr/>
        </p:nvPicPr>
        <p:blipFill>
          <a:blip r:embed="rId5"/>
          <a:stretch>
            <a:fillRect/>
          </a:stretch>
        </p:blipFill>
        <p:spPr>
          <a:xfrm>
            <a:off x="6264910" y="2293620"/>
            <a:ext cx="5664200" cy="2688590"/>
          </a:xfrm>
          <a:prstGeom prst="rect">
            <a:avLst/>
          </a:prstGeom>
        </p:spPr>
      </p:pic>
      <p:sp>
        <p:nvSpPr>
          <p:cNvPr id="6" name="文本框 5"/>
          <p:cNvSpPr txBox="1"/>
          <p:nvPr/>
        </p:nvSpPr>
        <p:spPr>
          <a:xfrm>
            <a:off x="1383534" y="5544866"/>
            <a:ext cx="9665244" cy="368300"/>
          </a:xfrm>
          <a:prstGeom prst="rect">
            <a:avLst/>
          </a:prstGeom>
          <a:noFill/>
        </p:spPr>
        <p:txBody>
          <a:bodyPr wrap="square" rtlCol="0">
            <a:spAutoFit/>
          </a:bodyPr>
          <a:lstStyle/>
          <a:p>
            <a:r>
              <a:rPr lang="en-US" altLang="zh-CN" dirty="0">
                <a:latin typeface="Helvetica" pitchFamily="2" charset="0"/>
              </a:rPr>
              <a:t>GMSA consistently outperforms all baselines across most of the tasks and compression rates</a:t>
            </a:r>
          </a:p>
        </p:txBody>
      </p:sp>
      <p:pic>
        <p:nvPicPr>
          <p:cNvPr id="8" name="图形 7">
            <a:extLst>
              <a:ext uri="{FF2B5EF4-FFF2-40B4-BE49-F238E27FC236}">
                <a16:creationId xmlns:a16="http://schemas.microsoft.com/office/drawing/2014/main" id="{93000498-BD9F-E3BA-DAFA-5AC809B62B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2970"/>
    </mc:Choice>
    <mc:Fallback xmlns="">
      <p:transition spd="slow" advTm="2297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Ablation Study and Stress Test</a:t>
            </a:r>
          </a:p>
        </p:txBody>
      </p:sp>
      <p:pic>
        <p:nvPicPr>
          <p:cNvPr id="2" name="图片 1"/>
          <p:cNvPicPr>
            <a:picLocks noChangeAspect="1"/>
          </p:cNvPicPr>
          <p:nvPr/>
        </p:nvPicPr>
        <p:blipFill>
          <a:blip r:embed="rId3"/>
          <a:stretch>
            <a:fillRect/>
          </a:stretch>
        </p:blipFill>
        <p:spPr>
          <a:xfrm>
            <a:off x="1112320" y="2372325"/>
            <a:ext cx="4510925" cy="2091002"/>
          </a:xfrm>
          <a:prstGeom prst="rect">
            <a:avLst/>
          </a:prstGeom>
        </p:spPr>
      </p:pic>
      <p:pic>
        <p:nvPicPr>
          <p:cNvPr id="4" name="图片 3"/>
          <p:cNvPicPr>
            <a:picLocks noChangeAspect="1"/>
          </p:cNvPicPr>
          <p:nvPr/>
        </p:nvPicPr>
        <p:blipFill>
          <a:blip r:embed="rId4"/>
          <a:stretch>
            <a:fillRect/>
          </a:stretch>
        </p:blipFill>
        <p:spPr>
          <a:xfrm>
            <a:off x="6552365" y="2076722"/>
            <a:ext cx="3937000" cy="2743200"/>
          </a:xfrm>
          <a:prstGeom prst="rect">
            <a:avLst/>
          </a:prstGeom>
        </p:spPr>
      </p:pic>
      <p:sp>
        <p:nvSpPr>
          <p:cNvPr id="5" name="文本框 4"/>
          <p:cNvSpPr txBox="1"/>
          <p:nvPr/>
        </p:nvSpPr>
        <p:spPr>
          <a:xfrm>
            <a:off x="1112320" y="4819922"/>
            <a:ext cx="5440045" cy="369332"/>
          </a:xfrm>
          <a:prstGeom prst="rect">
            <a:avLst/>
          </a:prstGeom>
          <a:noFill/>
        </p:spPr>
        <p:txBody>
          <a:bodyPr wrap="square" rtlCol="0">
            <a:spAutoFit/>
          </a:bodyPr>
          <a:lstStyle/>
          <a:p>
            <a:r>
              <a:rPr lang="en-US" altLang="zh-CN" dirty="0">
                <a:latin typeface="Helvetica" pitchFamily="2" charset="0"/>
              </a:rPr>
              <a:t>Removing any component leads to a drop</a:t>
            </a:r>
          </a:p>
        </p:txBody>
      </p:sp>
      <p:sp>
        <p:nvSpPr>
          <p:cNvPr id="8" name="文本框 7"/>
          <p:cNvSpPr txBox="1"/>
          <p:nvPr/>
        </p:nvSpPr>
        <p:spPr>
          <a:xfrm>
            <a:off x="6139543" y="4851071"/>
            <a:ext cx="5123543" cy="676366"/>
          </a:xfrm>
          <a:prstGeom prst="rect">
            <a:avLst/>
          </a:prstGeom>
          <a:noFill/>
        </p:spPr>
        <p:txBody>
          <a:bodyPr wrap="square" rtlCol="0">
            <a:noAutofit/>
          </a:bodyPr>
          <a:lstStyle/>
          <a:p>
            <a:r>
              <a:rPr lang="en-US" altLang="zh-CN" dirty="0">
                <a:latin typeface="Helvetica" pitchFamily="2" charset="0"/>
              </a:rPr>
              <a:t>GMSA maintains best performance across different compression rates</a:t>
            </a:r>
          </a:p>
        </p:txBody>
      </p:sp>
      <p:pic>
        <p:nvPicPr>
          <p:cNvPr id="7" name="图形 6">
            <a:extLst>
              <a:ext uri="{FF2B5EF4-FFF2-40B4-BE49-F238E27FC236}">
                <a16:creationId xmlns:a16="http://schemas.microsoft.com/office/drawing/2014/main" id="{59DA2550-4949-E793-9FFC-FE3095DDB1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3171"/>
    </mc:Choice>
    <mc:Fallback xmlns="">
      <p:transition spd="slow" advTm="4317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Training Loss Comparison</a:t>
            </a:r>
          </a:p>
        </p:txBody>
      </p:sp>
      <p:pic>
        <p:nvPicPr>
          <p:cNvPr id="2" name="图片 1"/>
          <p:cNvPicPr>
            <a:picLocks noChangeAspect="1"/>
          </p:cNvPicPr>
          <p:nvPr>
            <p:custDataLst>
              <p:tags r:id="rId1"/>
            </p:custDataLst>
          </p:nvPr>
        </p:nvPicPr>
        <p:blipFill>
          <a:blip r:embed="rId7"/>
          <a:srcRect b="8896"/>
          <a:stretch>
            <a:fillRect/>
          </a:stretch>
        </p:blipFill>
        <p:spPr>
          <a:xfrm>
            <a:off x="226695" y="1906993"/>
            <a:ext cx="5876925" cy="2718435"/>
          </a:xfrm>
          <a:prstGeom prst="rect">
            <a:avLst/>
          </a:prstGeom>
        </p:spPr>
      </p:pic>
      <p:pic>
        <p:nvPicPr>
          <p:cNvPr id="4" name="图片 3"/>
          <p:cNvPicPr>
            <a:picLocks noChangeAspect="1"/>
          </p:cNvPicPr>
          <p:nvPr>
            <p:custDataLst>
              <p:tags r:id="rId2"/>
            </p:custDataLst>
          </p:nvPr>
        </p:nvPicPr>
        <p:blipFill>
          <a:blip r:embed="rId8"/>
          <a:srcRect b="8779"/>
          <a:stretch>
            <a:fillRect/>
          </a:stretch>
        </p:blipFill>
        <p:spPr>
          <a:xfrm>
            <a:off x="6030595" y="2009228"/>
            <a:ext cx="6000115" cy="2718435"/>
          </a:xfrm>
          <a:prstGeom prst="rect">
            <a:avLst/>
          </a:prstGeom>
        </p:spPr>
      </p:pic>
      <p:sp>
        <p:nvSpPr>
          <p:cNvPr id="5" name="文本框 4"/>
          <p:cNvSpPr txBox="1"/>
          <p:nvPr>
            <p:custDataLst>
              <p:tags r:id="rId3"/>
            </p:custDataLst>
          </p:nvPr>
        </p:nvSpPr>
        <p:spPr>
          <a:xfrm>
            <a:off x="300990" y="4727028"/>
            <a:ext cx="5801995" cy="337820"/>
          </a:xfrm>
          <a:prstGeom prst="rect">
            <a:avLst/>
          </a:prstGeom>
          <a:noFill/>
        </p:spPr>
        <p:txBody>
          <a:bodyPr wrap="square" rtlCol="0">
            <a:noAutofit/>
          </a:bodyPr>
          <a:lstStyle/>
          <a:p>
            <a:pPr algn="ctr"/>
            <a:r>
              <a:rPr lang="en-US" altLang="zh-CN" sz="1600" dirty="0">
                <a:latin typeface="Helvetica" pitchFamily="2" charset="0"/>
              </a:rPr>
              <a:t>(a) Pretraining Loss Curves</a:t>
            </a:r>
          </a:p>
        </p:txBody>
      </p:sp>
      <p:sp>
        <p:nvSpPr>
          <p:cNvPr id="8" name="文本框 7"/>
          <p:cNvSpPr txBox="1"/>
          <p:nvPr>
            <p:custDataLst>
              <p:tags r:id="rId4"/>
            </p:custDataLst>
          </p:nvPr>
        </p:nvSpPr>
        <p:spPr>
          <a:xfrm>
            <a:off x="6880225" y="4737823"/>
            <a:ext cx="4650740" cy="326390"/>
          </a:xfrm>
          <a:prstGeom prst="rect">
            <a:avLst/>
          </a:prstGeom>
          <a:noFill/>
        </p:spPr>
        <p:txBody>
          <a:bodyPr wrap="square" rtlCol="0">
            <a:noAutofit/>
          </a:bodyPr>
          <a:lstStyle/>
          <a:p>
            <a:pPr algn="ctr"/>
            <a:r>
              <a:rPr lang="en-US" altLang="zh-CN" sz="1600" dirty="0">
                <a:latin typeface="Helvetica" pitchFamily="2" charset="0"/>
              </a:rPr>
              <a:t>(b) Fine-tuning Loss Curves</a:t>
            </a:r>
          </a:p>
        </p:txBody>
      </p:sp>
      <p:sp>
        <p:nvSpPr>
          <p:cNvPr id="6" name="文本框 5"/>
          <p:cNvSpPr txBox="1"/>
          <p:nvPr/>
        </p:nvSpPr>
        <p:spPr>
          <a:xfrm>
            <a:off x="1848282" y="5445259"/>
            <a:ext cx="7639793" cy="369332"/>
          </a:xfrm>
          <a:prstGeom prst="rect">
            <a:avLst/>
          </a:prstGeom>
          <a:noFill/>
        </p:spPr>
        <p:txBody>
          <a:bodyPr wrap="square" rtlCol="0">
            <a:spAutoFit/>
          </a:bodyPr>
          <a:lstStyle/>
          <a:p>
            <a:r>
              <a:rPr lang="zh-CN" altLang="zh-CN" dirty="0">
                <a:latin typeface="Helvetica" pitchFamily="2" charset="0"/>
              </a:rPr>
              <a:t>Group Merging and LSA are essential for stable</a:t>
            </a:r>
            <a:r>
              <a:rPr lang="en-US" altLang="zh-CN" dirty="0">
                <a:latin typeface="Helvetica" pitchFamily="2" charset="0"/>
              </a:rPr>
              <a:t> and effective</a:t>
            </a:r>
            <a:r>
              <a:rPr lang="zh-CN" altLang="zh-CN" dirty="0">
                <a:latin typeface="Helvetica" pitchFamily="2" charset="0"/>
              </a:rPr>
              <a:t> optimization</a:t>
            </a:r>
            <a:endParaRPr lang="en-US" altLang="zh-CN" dirty="0">
              <a:latin typeface="Helvetica" pitchFamily="2" charset="0"/>
            </a:endParaRPr>
          </a:p>
        </p:txBody>
      </p:sp>
      <p:pic>
        <p:nvPicPr>
          <p:cNvPr id="9" name="图形 8">
            <a:extLst>
              <a:ext uri="{FF2B5EF4-FFF2-40B4-BE49-F238E27FC236}">
                <a16:creationId xmlns:a16="http://schemas.microsoft.com/office/drawing/2014/main" id="{FEF3C0C5-B029-E984-0CC3-78CE160524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14003" y="283583"/>
            <a:ext cx="934775" cy="623183"/>
          </a:xfrm>
          <a:prstGeom prst="rect">
            <a:avLst/>
          </a:prstGeom>
        </p:spPr>
      </p:pic>
    </p:spTree>
    <p:extLst>
      <p:ext uri="{BB962C8B-B14F-4D97-AF65-F5344CB8AC3E}">
        <p14:creationId xmlns:p14="http://schemas.microsoft.com/office/powerpoint/2010/main" val="2926395878"/>
      </p:ext>
    </p:extLst>
  </p:cSld>
  <p:clrMapOvr>
    <a:masterClrMapping/>
  </p:clrMapOvr>
  <mc:AlternateContent xmlns:mc="http://schemas.openxmlformats.org/markup-compatibility/2006" xmlns:p14="http://schemas.microsoft.com/office/powerpoint/2010/main">
    <mc:Choice Requires="p14">
      <p:transition spd="slow" p14:dur="2000" advTm="19402"/>
    </mc:Choice>
    <mc:Fallback xmlns="">
      <p:transition spd="slow" advTm="1940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en-US" altLang="zh-CN" b="1" dirty="0">
                <a:latin typeface="Helvetica" pitchFamily="2" charset="0"/>
              </a:rPr>
              <a:t>Result and Analysis - Latency Evaluation</a:t>
            </a:r>
          </a:p>
        </p:txBody>
      </p:sp>
      <p:pic>
        <p:nvPicPr>
          <p:cNvPr id="6" name="图片 5"/>
          <p:cNvPicPr>
            <a:picLocks noChangeAspect="1"/>
          </p:cNvPicPr>
          <p:nvPr/>
        </p:nvPicPr>
        <p:blipFill>
          <a:blip r:embed="rId3"/>
          <a:stretch>
            <a:fillRect/>
          </a:stretch>
        </p:blipFill>
        <p:spPr>
          <a:xfrm>
            <a:off x="1041400" y="1870529"/>
            <a:ext cx="10109200" cy="2679700"/>
          </a:xfrm>
          <a:prstGeom prst="rect">
            <a:avLst/>
          </a:prstGeom>
        </p:spPr>
      </p:pic>
      <p:sp>
        <p:nvSpPr>
          <p:cNvPr id="7" name="文本框 6"/>
          <p:cNvSpPr txBox="1"/>
          <p:nvPr/>
        </p:nvSpPr>
        <p:spPr>
          <a:xfrm>
            <a:off x="3994784" y="4702568"/>
            <a:ext cx="4646930" cy="307777"/>
          </a:xfrm>
          <a:prstGeom prst="rect">
            <a:avLst/>
          </a:prstGeom>
          <a:noFill/>
        </p:spPr>
        <p:txBody>
          <a:bodyPr wrap="square" rtlCol="0">
            <a:spAutoFit/>
          </a:bodyPr>
          <a:lstStyle/>
          <a:p>
            <a:r>
              <a:rPr lang="en-US" altLang="zh-CN" sz="1400" dirty="0">
                <a:latin typeface="Helvetica" pitchFamily="2" charset="0"/>
              </a:rPr>
              <a:t>Latency evaluation across methods on </a:t>
            </a:r>
            <a:r>
              <a:rPr lang="en-US" altLang="zh-CN" sz="1400" dirty="0" err="1">
                <a:latin typeface="Helvetica" pitchFamily="2" charset="0"/>
              </a:rPr>
              <a:t>NaturalQuestions</a:t>
            </a:r>
            <a:endParaRPr lang="en-US" altLang="zh-CN" sz="1400" dirty="0">
              <a:latin typeface="Helvetica" pitchFamily="2" charset="0"/>
            </a:endParaRPr>
          </a:p>
        </p:txBody>
      </p:sp>
      <p:sp>
        <p:nvSpPr>
          <p:cNvPr id="9" name="文本框 8"/>
          <p:cNvSpPr txBox="1"/>
          <p:nvPr/>
        </p:nvSpPr>
        <p:spPr>
          <a:xfrm>
            <a:off x="3348263" y="5317809"/>
            <a:ext cx="5939971" cy="369332"/>
          </a:xfrm>
          <a:prstGeom prst="rect">
            <a:avLst/>
          </a:prstGeom>
          <a:noFill/>
        </p:spPr>
        <p:txBody>
          <a:bodyPr wrap="square" rtlCol="0">
            <a:spAutoFit/>
          </a:bodyPr>
          <a:lstStyle/>
          <a:p>
            <a:r>
              <a:rPr lang="en-US" altLang="zh-CN" dirty="0">
                <a:latin typeface="Helvetica" pitchFamily="2" charset="0"/>
              </a:rPr>
              <a:t>GMSA achieves the lowest end-to-end inference latency</a:t>
            </a:r>
          </a:p>
        </p:txBody>
      </p:sp>
      <p:pic>
        <p:nvPicPr>
          <p:cNvPr id="4" name="图形 3">
            <a:extLst>
              <a:ext uri="{FF2B5EF4-FFF2-40B4-BE49-F238E27FC236}">
                <a16:creationId xmlns:a16="http://schemas.microsoft.com/office/drawing/2014/main" id="{FE725723-DF83-EC9E-8FDF-CFDD2A2B243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4003" y="283583"/>
            <a:ext cx="934775" cy="62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9635"/>
    </mc:Choice>
    <mc:Fallback xmlns="">
      <p:transition spd="slow" advTm="963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99227" y="1731653"/>
            <a:ext cx="10993548" cy="2123126"/>
          </a:xfrm>
        </p:spPr>
        <p:txBody>
          <a:bodyPr>
            <a:normAutofit fontScale="90000"/>
          </a:bodyPr>
          <a:lstStyle/>
          <a:p>
            <a:br>
              <a:rPr lang="en-US" altLang="zh-CN" sz="4000" b="1" dirty="0">
                <a:latin typeface="Helvetica" pitchFamily="2" charset="0"/>
                <a:sym typeface="+mn-ea"/>
              </a:rPr>
            </a:br>
            <a:br>
              <a:rPr lang="en-US" altLang="zh-CN" sz="4000" b="1" dirty="0">
                <a:latin typeface="Helvetica" pitchFamily="2" charset="0"/>
                <a:sym typeface="+mn-ea"/>
              </a:rPr>
            </a:br>
            <a:br>
              <a:rPr lang="en-US" altLang="zh-CN" sz="4000" b="1" dirty="0">
                <a:latin typeface="Helvetica" pitchFamily="2" charset="0"/>
                <a:sym typeface="+mn-ea"/>
              </a:rPr>
            </a:br>
            <a:endParaRPr kumimoji="1" lang="zh-CN" altLang="zh-CN" sz="4000" b="1" dirty="0">
              <a:latin typeface="Helvetica" pitchFamily="2" charset="0"/>
              <a:sym typeface="+mn-ea"/>
            </a:endParaRPr>
          </a:p>
        </p:txBody>
      </p:sp>
      <p:pic>
        <p:nvPicPr>
          <p:cNvPr id="5" name="图片 4">
            <a:extLst>
              <a:ext uri="{FF2B5EF4-FFF2-40B4-BE49-F238E27FC236}">
                <a16:creationId xmlns:a16="http://schemas.microsoft.com/office/drawing/2014/main" id="{8544E62B-F657-B666-5E0F-391C62FC0420}"/>
              </a:ext>
            </a:extLst>
          </p:cNvPr>
          <p:cNvPicPr>
            <a:picLocks noChangeAspect="1"/>
          </p:cNvPicPr>
          <p:nvPr/>
        </p:nvPicPr>
        <p:blipFill>
          <a:blip r:embed="rId3"/>
          <a:stretch>
            <a:fillRect/>
          </a:stretch>
        </p:blipFill>
        <p:spPr>
          <a:xfrm>
            <a:off x="9937498" y="4660070"/>
            <a:ext cx="1911473" cy="1911473"/>
          </a:xfrm>
          <a:prstGeom prst="rect">
            <a:avLst/>
          </a:prstGeom>
        </p:spPr>
      </p:pic>
      <p:sp>
        <p:nvSpPr>
          <p:cNvPr id="6" name="文本框 5">
            <a:extLst>
              <a:ext uri="{FF2B5EF4-FFF2-40B4-BE49-F238E27FC236}">
                <a16:creationId xmlns:a16="http://schemas.microsoft.com/office/drawing/2014/main" id="{01D093B7-6A87-50B3-6EF4-3645D56D8279}"/>
              </a:ext>
            </a:extLst>
          </p:cNvPr>
          <p:cNvSpPr txBox="1"/>
          <p:nvPr/>
        </p:nvSpPr>
        <p:spPr>
          <a:xfrm>
            <a:off x="10181340" y="4372541"/>
            <a:ext cx="1423788"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Full Paper</a:t>
            </a:r>
          </a:p>
        </p:txBody>
      </p:sp>
      <p:sp>
        <p:nvSpPr>
          <p:cNvPr id="8" name="文本框 7">
            <a:extLst>
              <a:ext uri="{FF2B5EF4-FFF2-40B4-BE49-F238E27FC236}">
                <a16:creationId xmlns:a16="http://schemas.microsoft.com/office/drawing/2014/main" id="{FEC5E1F1-428A-32FC-EF31-C50B66FFFC7C}"/>
              </a:ext>
            </a:extLst>
          </p:cNvPr>
          <p:cNvSpPr txBox="1"/>
          <p:nvPr/>
        </p:nvSpPr>
        <p:spPr>
          <a:xfrm>
            <a:off x="335989" y="1537350"/>
            <a:ext cx="11592775" cy="954107"/>
          </a:xfrm>
          <a:prstGeom prst="rect">
            <a:avLst/>
          </a:prstGeom>
          <a:noFill/>
        </p:spPr>
        <p:txBody>
          <a:bodyPr wrap="square">
            <a:spAutoFit/>
          </a:bodyPr>
          <a:lstStyle/>
          <a:p>
            <a:pPr algn="ctr"/>
            <a:r>
              <a:rPr lang="en-US" altLang="zh-CN" sz="2800" b="1" dirty="0">
                <a:solidFill>
                  <a:schemeClr val="bg1"/>
                </a:solidFill>
                <a:latin typeface="Helvetica" pitchFamily="2" charset="0"/>
              </a:rPr>
              <a:t>GMSA: Enhancing Context Compression via Group Merging and Layer Semantic Alignment</a:t>
            </a:r>
            <a:endParaRPr lang="zh-CN" altLang="en-US" sz="2800" dirty="0">
              <a:solidFill>
                <a:schemeClr val="bg1"/>
              </a:solidFill>
            </a:endParaRPr>
          </a:p>
        </p:txBody>
      </p:sp>
      <p:sp>
        <p:nvSpPr>
          <p:cNvPr id="10" name="文本框 9">
            <a:extLst>
              <a:ext uri="{FF2B5EF4-FFF2-40B4-BE49-F238E27FC236}">
                <a16:creationId xmlns:a16="http://schemas.microsoft.com/office/drawing/2014/main" id="{F087BA2F-5069-8E20-265F-D82D159FC317}"/>
              </a:ext>
            </a:extLst>
          </p:cNvPr>
          <p:cNvSpPr txBox="1"/>
          <p:nvPr/>
        </p:nvSpPr>
        <p:spPr>
          <a:xfrm>
            <a:off x="599225" y="2442351"/>
            <a:ext cx="10993549" cy="1030988"/>
          </a:xfrm>
          <a:prstGeom prst="rect">
            <a:avLst/>
          </a:prstGeom>
          <a:noFill/>
        </p:spPr>
        <p:txBody>
          <a:bodyPr wrap="square">
            <a:spAutoFit/>
          </a:bodyPr>
          <a:lstStyle/>
          <a:p>
            <a:pPr algn="ctr">
              <a:lnSpc>
                <a:spcPct val="120000"/>
              </a:lnSpc>
            </a:pPr>
            <a:r>
              <a:rPr lang="en-US" altLang="zh-CN" sz="1600" b="0" i="1" dirty="0">
                <a:solidFill>
                  <a:schemeClr val="bg1"/>
                </a:solidFill>
                <a:latin typeface="Helvetica" pitchFamily="2" charset="0"/>
                <a:ea typeface="+mn-ea"/>
                <a:cs typeface="Arial Italic" panose="020B0604020202090204" charset="0"/>
              </a:rPr>
              <a:t>Jiwei Tang, Zhicheng Zhang, </a:t>
            </a:r>
            <a:r>
              <a:rPr lang="en-US" altLang="zh-CN" sz="1600" b="0" i="1" dirty="0" err="1">
                <a:solidFill>
                  <a:schemeClr val="bg1"/>
                </a:solidFill>
                <a:latin typeface="Helvetica" pitchFamily="2" charset="0"/>
                <a:ea typeface="+mn-ea"/>
                <a:cs typeface="Arial Italic" panose="020B0604020202090204" charset="0"/>
              </a:rPr>
              <a:t>Shunlong</a:t>
            </a:r>
            <a:r>
              <a:rPr lang="en-US" altLang="zh-CN" sz="1600" b="0" i="1" dirty="0">
                <a:solidFill>
                  <a:schemeClr val="bg1"/>
                </a:solidFill>
                <a:latin typeface="Helvetica" pitchFamily="2" charset="0"/>
                <a:ea typeface="+mn-ea"/>
                <a:cs typeface="Arial Italic" panose="020B0604020202090204" charset="0"/>
              </a:rPr>
              <a:t> Wu, </a:t>
            </a:r>
            <a:r>
              <a:rPr lang="en-US" altLang="zh-CN" sz="1600" b="0" i="1" dirty="0" err="1">
                <a:solidFill>
                  <a:schemeClr val="bg1"/>
                </a:solidFill>
                <a:latin typeface="Helvetica" pitchFamily="2" charset="0"/>
                <a:ea typeface="+mn-ea"/>
                <a:cs typeface="Arial Italic" panose="020B0604020202090204" charset="0"/>
              </a:rPr>
              <a:t>Jingheng</a:t>
            </a:r>
            <a:r>
              <a:rPr lang="en-US" altLang="zh-CN" sz="1600" b="0" i="1" dirty="0">
                <a:solidFill>
                  <a:schemeClr val="bg1"/>
                </a:solidFill>
                <a:latin typeface="Helvetica" pitchFamily="2" charset="0"/>
                <a:ea typeface="+mn-ea"/>
                <a:cs typeface="Arial Italic" panose="020B0604020202090204" charset="0"/>
              </a:rPr>
              <a:t> Ye, Lichen Bai, </a:t>
            </a:r>
            <a:r>
              <a:rPr lang="en-US" altLang="zh-CN" sz="1600" b="0" i="1" dirty="0" err="1">
                <a:solidFill>
                  <a:schemeClr val="bg1"/>
                </a:solidFill>
                <a:latin typeface="Helvetica" pitchFamily="2" charset="0"/>
                <a:ea typeface="+mn-ea"/>
                <a:cs typeface="Arial Italic" panose="020B0604020202090204" charset="0"/>
              </a:rPr>
              <a:t>Zitai</a:t>
            </a:r>
            <a:r>
              <a:rPr lang="en-US" altLang="zh-CN" sz="1600" b="0" i="1" dirty="0">
                <a:solidFill>
                  <a:schemeClr val="bg1"/>
                </a:solidFill>
                <a:latin typeface="Helvetica" pitchFamily="2" charset="0"/>
                <a:ea typeface="+mn-ea"/>
                <a:cs typeface="Arial Italic" panose="020B0604020202090204" charset="0"/>
              </a:rPr>
              <a:t> Wang, </a:t>
            </a:r>
            <a:r>
              <a:rPr lang="en-US" altLang="zh-CN" sz="1600" b="0" i="1" dirty="0" err="1">
                <a:solidFill>
                  <a:schemeClr val="bg1"/>
                </a:solidFill>
                <a:latin typeface="Helvetica" pitchFamily="2" charset="0"/>
                <a:ea typeface="+mn-ea"/>
                <a:cs typeface="Arial Italic" panose="020B0604020202090204" charset="0"/>
              </a:rPr>
              <a:t>Tingwei</a:t>
            </a:r>
            <a:r>
              <a:rPr lang="en-US" altLang="zh-CN" sz="1600" b="0" i="1" dirty="0">
                <a:solidFill>
                  <a:schemeClr val="bg1"/>
                </a:solidFill>
                <a:latin typeface="Helvetica" pitchFamily="2" charset="0"/>
                <a:ea typeface="+mn-ea"/>
                <a:cs typeface="Arial Italic" panose="020B0604020202090204" charset="0"/>
              </a:rPr>
              <a:t> Lu, Lin Hai, Yiming Zhao, </a:t>
            </a:r>
          </a:p>
          <a:p>
            <a:pPr algn="ctr">
              <a:lnSpc>
                <a:spcPct val="120000"/>
              </a:lnSpc>
            </a:pPr>
            <a:r>
              <a:rPr lang="en-US" altLang="zh-CN" sz="1600" b="0" i="1" dirty="0">
                <a:solidFill>
                  <a:schemeClr val="bg1"/>
                </a:solidFill>
                <a:latin typeface="Helvetica" pitchFamily="2" charset="0"/>
                <a:ea typeface="+mn-ea"/>
                <a:cs typeface="Arial Italic" panose="020B0604020202090204" charset="0"/>
              </a:rPr>
              <a:t>Hai-Tao Zheng</a:t>
            </a:r>
            <a:r>
              <a:rPr lang="en-US" altLang="zh-CN" sz="1600" b="0" i="1" baseline="30000" dirty="0">
                <a:solidFill>
                  <a:schemeClr val="bg1"/>
                </a:solidFill>
                <a:latin typeface="Helvetica" pitchFamily="2" charset="0"/>
                <a:ea typeface="+mn-ea"/>
                <a:cs typeface="Arial Italic" panose="020B0604020202090204" charset="0"/>
                <a:sym typeface="+mn-ea"/>
              </a:rPr>
              <a:t>∗</a:t>
            </a:r>
            <a:r>
              <a:rPr lang="en-US" altLang="zh-CN" sz="1600" b="0" i="1" dirty="0">
                <a:solidFill>
                  <a:schemeClr val="bg1"/>
                </a:solidFill>
                <a:latin typeface="Helvetica" pitchFamily="2" charset="0"/>
                <a:ea typeface="+mn-ea"/>
                <a:cs typeface="Arial Italic" panose="020B0604020202090204" charset="0"/>
              </a:rPr>
              <a:t>, Hong-Gee Kim</a:t>
            </a:r>
          </a:p>
          <a:p>
            <a:pPr algn="ctr">
              <a:lnSpc>
                <a:spcPct val="120000"/>
              </a:lnSpc>
            </a:pPr>
            <a:r>
              <a:rPr lang="en-US" altLang="zh-CN" sz="1900" b="0" dirty="0">
                <a:solidFill>
                  <a:schemeClr val="bg1"/>
                </a:solidFill>
                <a:latin typeface="Helvetica" pitchFamily="2" charset="0"/>
                <a:ea typeface="+mn-ea"/>
                <a:cs typeface="Arial Italic" panose="020B0604020202090204" charset="0"/>
              </a:rPr>
              <a:t>tangjw24@mails.tsinghua.edu.cn</a:t>
            </a:r>
          </a:p>
        </p:txBody>
      </p:sp>
      <p:sp>
        <p:nvSpPr>
          <p:cNvPr id="12" name="文本框 11">
            <a:extLst>
              <a:ext uri="{FF2B5EF4-FFF2-40B4-BE49-F238E27FC236}">
                <a16:creationId xmlns:a16="http://schemas.microsoft.com/office/drawing/2014/main" id="{0338FDCB-2A0A-40CA-B1AF-06F9378D0074}"/>
              </a:ext>
            </a:extLst>
          </p:cNvPr>
          <p:cNvSpPr txBox="1"/>
          <p:nvPr/>
        </p:nvSpPr>
        <p:spPr>
          <a:xfrm>
            <a:off x="4664567" y="5215696"/>
            <a:ext cx="3198856" cy="400110"/>
          </a:xfrm>
          <a:prstGeom prst="rect">
            <a:avLst/>
          </a:prstGeom>
          <a:noFill/>
        </p:spPr>
        <p:txBody>
          <a:bodyPr wrap="square" rtlCol="0">
            <a:spAutoFit/>
          </a:bodyPr>
          <a:lstStyle/>
          <a:p>
            <a:r>
              <a:rPr lang="en-US" altLang="zh-CN" sz="2000" b="1" dirty="0">
                <a:latin typeface="Helvetica" pitchFamily="2" charset="0"/>
                <a:ea typeface="微软雅黑" charset="-122"/>
              </a:rPr>
              <a:t>Presenter</a:t>
            </a:r>
            <a:r>
              <a:rPr lang="zh-CN" altLang="en-US" sz="2000" b="1" dirty="0">
                <a:latin typeface="Helvetica" pitchFamily="2" charset="0"/>
                <a:ea typeface="微软雅黑" charset="-122"/>
              </a:rPr>
              <a:t>：</a:t>
            </a:r>
            <a:r>
              <a:rPr lang="en-US" altLang="zh-CN" sz="2000" dirty="0">
                <a:latin typeface="Helvetica" pitchFamily="2" charset="0"/>
                <a:ea typeface="微软雅黑" charset="-122"/>
              </a:rPr>
              <a:t>Jingheng Ye</a:t>
            </a:r>
          </a:p>
        </p:txBody>
      </p:sp>
      <p:pic>
        <p:nvPicPr>
          <p:cNvPr id="4" name="图片 3" descr="QR 代码&#10;&#10;AI 生成的内容可能不正确。">
            <a:extLst>
              <a:ext uri="{FF2B5EF4-FFF2-40B4-BE49-F238E27FC236}">
                <a16:creationId xmlns:a16="http://schemas.microsoft.com/office/drawing/2014/main" id="{F6FAC61E-54E3-E3FC-B12A-569D927FDE48}"/>
              </a:ext>
            </a:extLst>
          </p:cNvPr>
          <p:cNvPicPr>
            <a:picLocks noChangeAspect="1"/>
          </p:cNvPicPr>
          <p:nvPr/>
        </p:nvPicPr>
        <p:blipFill>
          <a:blip r:embed="rId4"/>
          <a:stretch>
            <a:fillRect/>
          </a:stretch>
        </p:blipFill>
        <p:spPr>
          <a:xfrm>
            <a:off x="400556" y="4617566"/>
            <a:ext cx="1911473" cy="1911473"/>
          </a:xfrm>
          <a:prstGeom prst="rect">
            <a:avLst/>
          </a:prstGeom>
        </p:spPr>
      </p:pic>
      <p:sp>
        <p:nvSpPr>
          <p:cNvPr id="7" name="文本框 6">
            <a:extLst>
              <a:ext uri="{FF2B5EF4-FFF2-40B4-BE49-F238E27FC236}">
                <a16:creationId xmlns:a16="http://schemas.microsoft.com/office/drawing/2014/main" id="{6371118E-002C-B1A5-3D07-069D7B0E3F19}"/>
              </a:ext>
            </a:extLst>
          </p:cNvPr>
          <p:cNvSpPr txBox="1"/>
          <p:nvPr/>
        </p:nvSpPr>
        <p:spPr>
          <a:xfrm>
            <a:off x="942556" y="4304930"/>
            <a:ext cx="827471"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Code</a:t>
            </a:r>
          </a:p>
        </p:txBody>
      </p:sp>
      <p:pic>
        <p:nvPicPr>
          <p:cNvPr id="11" name="图片 10" descr="QR 代码&#10;&#10;AI 生成的内容可能不正确。">
            <a:extLst>
              <a:ext uri="{FF2B5EF4-FFF2-40B4-BE49-F238E27FC236}">
                <a16:creationId xmlns:a16="http://schemas.microsoft.com/office/drawing/2014/main" id="{87CD2980-4C5D-BF4C-3ACC-2DC157200879}"/>
              </a:ext>
            </a:extLst>
          </p:cNvPr>
          <p:cNvPicPr>
            <a:picLocks noChangeAspect="1"/>
          </p:cNvPicPr>
          <p:nvPr/>
        </p:nvPicPr>
        <p:blipFill>
          <a:blip r:embed="rId5"/>
          <a:stretch>
            <a:fillRect/>
          </a:stretch>
        </p:blipFill>
        <p:spPr>
          <a:xfrm>
            <a:off x="2523482" y="4617566"/>
            <a:ext cx="1911473" cy="1911473"/>
          </a:xfrm>
          <a:prstGeom prst="rect">
            <a:avLst/>
          </a:prstGeom>
        </p:spPr>
      </p:pic>
      <p:sp>
        <p:nvSpPr>
          <p:cNvPr id="13" name="文本框 12">
            <a:extLst>
              <a:ext uri="{FF2B5EF4-FFF2-40B4-BE49-F238E27FC236}">
                <a16:creationId xmlns:a16="http://schemas.microsoft.com/office/drawing/2014/main" id="{FB9C9A13-9562-EE42-8177-1DCB0629DFB3}"/>
              </a:ext>
            </a:extLst>
          </p:cNvPr>
          <p:cNvSpPr txBox="1"/>
          <p:nvPr/>
        </p:nvSpPr>
        <p:spPr>
          <a:xfrm>
            <a:off x="2909190" y="4312680"/>
            <a:ext cx="1140056"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Contact</a:t>
            </a:r>
          </a:p>
        </p:txBody>
      </p:sp>
      <p:pic>
        <p:nvPicPr>
          <p:cNvPr id="17" name="图片 16" descr="图标, QR 代码&#10;&#10;AI 生成的内容可能不正确。">
            <a:extLst>
              <a:ext uri="{FF2B5EF4-FFF2-40B4-BE49-F238E27FC236}">
                <a16:creationId xmlns:a16="http://schemas.microsoft.com/office/drawing/2014/main" id="{917D2686-DF2F-6481-A1AA-E79CD2C3A8D9}"/>
              </a:ext>
            </a:extLst>
          </p:cNvPr>
          <p:cNvPicPr>
            <a:picLocks noChangeAspect="1"/>
          </p:cNvPicPr>
          <p:nvPr/>
        </p:nvPicPr>
        <p:blipFill>
          <a:blip r:embed="rId6"/>
          <a:stretch>
            <a:fillRect/>
          </a:stretch>
        </p:blipFill>
        <p:spPr>
          <a:xfrm>
            <a:off x="7798891" y="4675060"/>
            <a:ext cx="1911473" cy="1911473"/>
          </a:xfrm>
          <a:prstGeom prst="rect">
            <a:avLst/>
          </a:prstGeom>
        </p:spPr>
      </p:pic>
      <p:sp>
        <p:nvSpPr>
          <p:cNvPr id="18" name="文本框 17">
            <a:extLst>
              <a:ext uri="{FF2B5EF4-FFF2-40B4-BE49-F238E27FC236}">
                <a16:creationId xmlns:a16="http://schemas.microsoft.com/office/drawing/2014/main" id="{3ACC6487-D0AD-1681-6D1E-174670E40FA7}"/>
              </a:ext>
            </a:extLst>
          </p:cNvPr>
          <p:cNvSpPr txBox="1"/>
          <p:nvPr/>
        </p:nvSpPr>
        <p:spPr>
          <a:xfrm>
            <a:off x="8269798" y="4357551"/>
            <a:ext cx="939681" cy="400110"/>
          </a:xfrm>
          <a:prstGeom prst="rect">
            <a:avLst/>
          </a:prstGeom>
          <a:noFill/>
        </p:spPr>
        <p:txBody>
          <a:bodyPr wrap="none" rtlCol="0">
            <a:spAutoFit/>
          </a:bodyPr>
          <a:lstStyle/>
          <a:p>
            <a:r>
              <a:rPr kumimoji="1" lang="en-US" altLang="zh-CN" sz="2000" b="1" dirty="0">
                <a:solidFill>
                  <a:schemeClr val="accent1"/>
                </a:solidFill>
                <a:latin typeface="Helvetica" pitchFamily="2" charset="0"/>
              </a:rPr>
              <a:t>Slides</a:t>
            </a:r>
          </a:p>
        </p:txBody>
      </p:sp>
      <p:sp>
        <p:nvSpPr>
          <p:cNvPr id="19" name="文本框 18">
            <a:extLst>
              <a:ext uri="{FF2B5EF4-FFF2-40B4-BE49-F238E27FC236}">
                <a16:creationId xmlns:a16="http://schemas.microsoft.com/office/drawing/2014/main" id="{06794781-F586-977F-62C8-80976B3A6A8D}"/>
              </a:ext>
            </a:extLst>
          </p:cNvPr>
          <p:cNvSpPr txBox="1"/>
          <p:nvPr/>
        </p:nvSpPr>
        <p:spPr>
          <a:xfrm>
            <a:off x="4523602" y="3462980"/>
            <a:ext cx="3217547" cy="584775"/>
          </a:xfrm>
          <a:prstGeom prst="rect">
            <a:avLst/>
          </a:prstGeom>
          <a:noFill/>
        </p:spPr>
        <p:txBody>
          <a:bodyPr wrap="none" rtlCol="0">
            <a:spAutoFit/>
          </a:bodyPr>
          <a:lstStyle/>
          <a:p>
            <a:r>
              <a:rPr lang="en" altLang="zh-CN" sz="3200" b="1" dirty="0">
                <a:solidFill>
                  <a:schemeClr val="bg1"/>
                </a:solidFill>
                <a:latin typeface="Helvetica" pitchFamily="2" charset="0"/>
                <a:sym typeface="+mn-ea"/>
              </a:rPr>
              <a:t>THANKS</a:t>
            </a:r>
            <a:r>
              <a:rPr lang="zh-CN" altLang="en" sz="3200" b="1" dirty="0">
                <a:solidFill>
                  <a:schemeClr val="bg1"/>
                </a:solidFill>
                <a:latin typeface="Helvetica" pitchFamily="2" charset="0"/>
                <a:sym typeface="+mn-ea"/>
              </a:rPr>
              <a:t>！</a:t>
            </a:r>
            <a:r>
              <a:rPr lang="en" altLang="zh-CN" sz="3200" b="1" dirty="0">
                <a:solidFill>
                  <a:schemeClr val="bg1"/>
                </a:solidFill>
                <a:latin typeface="Helvetica" pitchFamily="2" charset="0"/>
                <a:sym typeface="+mn-ea"/>
              </a:rPr>
              <a:t>Q&amp;A</a:t>
            </a:r>
            <a:endParaRPr kumimoji="1" lang="zh-CN" altLang="en-US" sz="3200" dirty="0">
              <a:solidFill>
                <a:schemeClr val="bg1"/>
              </a:solidFill>
            </a:endParaRPr>
          </a:p>
        </p:txBody>
      </p:sp>
      <p:pic>
        <p:nvPicPr>
          <p:cNvPr id="20" name="图片 19">
            <a:extLst>
              <a:ext uri="{FF2B5EF4-FFF2-40B4-BE49-F238E27FC236}">
                <a16:creationId xmlns:a16="http://schemas.microsoft.com/office/drawing/2014/main" id="{DC1303FE-9807-969D-FAEB-BEEBB4335944}"/>
              </a:ext>
            </a:extLst>
          </p:cNvPr>
          <p:cNvPicPr>
            <a:picLocks noChangeAspect="1"/>
          </p:cNvPicPr>
          <p:nvPr/>
        </p:nvPicPr>
        <p:blipFill>
          <a:blip r:embed="rId7"/>
          <a:stretch>
            <a:fillRect/>
          </a:stretch>
        </p:blipFill>
        <p:spPr>
          <a:xfrm>
            <a:off x="7849235" y="355600"/>
            <a:ext cx="4212590" cy="808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070"/>
    </mc:Choice>
    <mc:Fallback xmlns="">
      <p:transition spd="slow" advTm="807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9.45,&quot;left&quot;:17.85,&quot;top&quot;:135.3,&quot;width&quot;:943.85}"/>
</p:tagLst>
</file>

<file path=ppt/theme/theme1.xml><?xml version="1.0" encoding="utf-8"?>
<a:theme xmlns:a="http://schemas.openxmlformats.org/drawingml/2006/main" name="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VGw5N1hIUmxlSFI3Ulc1amZYMGdYRjA9IiwKCSJMYXRleEltZ0Jhc2U2NCIgOiAiaVZCT1J3MEtHZ29BQUFBTlNVaEVVZ0FBQUs0QUFBQkhCQU1BQUFCc2FXR1hBQUFBTUZCTVZFWC8vLzhBQUFBQUFBQUFBQUFBQUFBQUFBQUFBQUFBQUFBQUFBQUFBQUFBQUFBQUFBQUFBQUFBQUFBQUFBQUFBQUF2M2FCN0FBQUFEM1JTVGxNQXplL2RSQkF5ZG9tWnE3c2lWR2FaQm05QkFBQUFDWEJJV1hNQUFBN0VBQUFPeEFHVkt3NGJBQUFGZFVsRVFWUllDYTJZUFd4YlZSVEhyK004TjI2Y09COWl5ZUlvd0lDRTlLSUVoZzdvZVVGaUlwR1F4UUNTdlRBbjZnUVNVck15T1FNTFluQlFodzRkWW5WZ3RRVUZPclhlK0pDS0k3RlVTQ2lwUTZFaGJRLy8rMzNlYyszRXo3NkQ3N2tmNS9mdXUvZC83N25QUXVpMFJDcTlaWXJJUHFDMXpjWEY1WTN3MU5lTmJPVTBsaGhqeTFRUmpVeGpEcDkrZFR1U29MS3IrL0JyVlVFclg3cXFkTVlWeVcweTM4SWgwVm1OVmFRejg1TDdqUHZPVW05OHJNaWVSUmdmNTg3Rkg4T2JSckNyejdzWU1IZVlwbDFlVEdsM24weUJlOFM4NTZuTlNtbk54dm9NdU92TVBmK1lGVktiMFg0QTdqL01QL3N2SzZRMUErb0lDT3MvNWwvbEQySDFJNWx6dEMza0h0djJYdDBUYjZlMjh0akRXWEQzUEtIUjlIWnFLd3Zwem9PNzZnblJycmRUVzlYbmNBVlhaam9GVkxQbUdIbjNDWndiUkY1YmM3Rk5raFpkWDRmbkF3eTRaZ241YzJ1Tms1ZjI0VDBMcnN4Vm1waDhoWmdEVjg2SFN0Vy9yVFZHUHEyRkd4SzVUVFlSK2M3b0VIU0RmQ3hxTEl3eFR1dWEwU2R2RlJOUk5uWFJubTBjSXk5cTNWNEZ0Nmt4Z1h2QUdGaXhwWmRMQm1ZVGl5WW9Yd3lzUlBSVWoyOHlwNitTTDRESFJEM056UnErTHFYOXRRSEl4NklKeWJldFIrUmowV1RrYTE1ZUZMQndPa3hNUnI0dS9yUnNMSnFNZkYvWWhiR3h5TW8zdjVoTTdtQ3lMa1B5TFhlQmtyRm9GejJ0Zk9VUkYwK3JRempKcHJyckxLOS9zbURsbTN2NEtNTFUvUFVRNmZkSE45RjZrblFlVWk0ZDJFWjVpWkI3bXNtM3lxNHI5OXgrdEE1RGN5dGZkR3JvV01Ua215RmFjTjdmMHdqSDhqUzdpZTFnd0cwaG1IekJiVHB1RUxvbGRuVURqUmtyWC9RQVJjWWlKdDhZVjNSSDJOOFpKMThYaTVoODQ5d3AxbmZnUUUxRGtiK2Jpa1ZXdnJKRG5Edmpid0lYWVlXWEw3cldaU3l5OHUzblRvOXdyZkR5QlFleW9yS1ZiejgzNEZkRDJUd2tlZm1pazRwRlRMNStIbWErbFl5d0puOHZsWmg4aFpqR2VKOHgrWHJ1ckpKdXEzTXBKanJsbUh4UmpCQ0xtSHc5TjZ1NDc5VXV5NzNDNUF1Zlk4UWlKbC9QbmZKYjdlY3Z2dGs0RU9MWHBkNjFNbnZNYjh2MDZxMmFyWmlOUzdLSWlhQTkyOGgwdHVPNWVDYzZFSC9ReWgwNmJkdXV3U0hSV2tpblpWTVJreStPTXNtMWJlaGk5UnRFbm5zekJEZi9HRk45dzMvcjFPbHBUWWo3a2QwTk8rNzBWUStTc1lpTFZIT0R1OWY1a1lQVlBXanRvbi9lM2J4bTZYd2JGYmc4eWd3cEpsK1VXL3g2clU4TStTamlYSHc4M1ZMandsVUdvNWFwcEk4blJBWlRFVFYxZy8zdHVzdUpxc0Y0VGZMeklMZGx0SythUTNObHpsTnZXMVpnZVk1VVE0NHZrcXpCSllJVHdIMmxVdm40L1Vhc3RtNWZ0MlJPNXkzUzg0ckkxVmJjakhtZ0tzZ2Z4S0lUVi9EclZnajUwK3IyRzdKbFBuNGo0eFMwM2xIT1FZdGVaeFNZaUVVTHJNYnFRWFRqWEJtdWtBNXBWV1pZTGowdnNvQVVYTWNxbFpYcGZnNWpNK080eFRqWGZPWWFMbzZWSXdjUTkyNURpTmhmSzUvN09pRjJ1SHlkZm9YZXgrS3p0dXhidDE4aWhvdmxVdld5VGI2RVNXZTZySDh6WEw2ZW05SGpEZFd5SjdrUDdEb3FSRjMrVGJhOHVVYXZjVzd1RFY1eTg2RFBzNEkrVFpMY25kaGU0djZEYk1mVkhlYk9WWjdrZHNmbDV2V1VKYmxqanplajVaL2t4dWQzMEx2eitzUThtTDlSa3R3aSs3VG0zb1B0QlBkWWZ6b2x1ZER2N21ER3kxb1MzTktxNnBUa1lyODFqWGVoOHpKTVgxMmNPMi9jazF5RVJmdkpuclZHSHlwV0VlZCtaNDZCUG03WC9RdDV2QkR6SDFRQTEzZk1oZVlZY055V1BuZmt2YU9zRWVIbDVnSEhzZU1HRGJ2c2h6YXVsZXloV3FJM0ZmZXEzamlEaG1ucUszZGJSQzkrcU1qMDR5OGwwc2RBNVQ3UitidmJRbFIrd2xmQ0p6Q0UrSWg2WldSQjYyMVp1aUQxZjdlbzR5RUNINDlUZjJIQjBFZG1uYzQ3b2xBL1ZVOFptYXZlTXNKeHRSbEtMb3lOVUhQbFA5eHJJOHY0Z2dISTV1RFBwZDVLQjhiL0pNOUlTL2treWtFQUFBQUFTVVZPUks1Q1lJST0iCn0K"/>
    </extobj>
  </extobjs>
</s:customData>
</file>

<file path=customXml/itemProps1.xml><?xml version="1.0" encoding="utf-8"?>
<ds:datastoreItem xmlns:ds="http://schemas.openxmlformats.org/officeDocument/2006/customXml" ds:itemID="{B201DCDF-03D2-CB43-AFA2-5C9101505A4E}">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510</TotalTime>
  <Words>3166</Words>
  <Application>Microsoft Macintosh PowerPoint</Application>
  <PresentationFormat>宽屏</PresentationFormat>
  <Paragraphs>208</Paragraphs>
  <Slides>20</Slides>
  <Notes>20</Notes>
  <HiddenSlides>2</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Alibaba PuHuiTi B</vt:lpstr>
      <vt:lpstr>PingFang SC</vt:lpstr>
      <vt:lpstr>Calibri</vt:lpstr>
      <vt:lpstr>Gill Sans MT</vt:lpstr>
      <vt:lpstr>Helvetica</vt:lpstr>
      <vt:lpstr>Wingdings 2</vt:lpstr>
      <vt:lpstr>清华简约主题-顶边-16:9</vt:lpstr>
      <vt:lpstr>GMSA: Enhancing Context Compression via Group Merging and Layer Semantic Alignment</vt:lpstr>
      <vt:lpstr>Content</vt:lpstr>
      <vt:lpstr>Introduction - Background</vt:lpstr>
      <vt:lpstr>Introduction - Background</vt:lpstr>
      <vt:lpstr>Introduction - Limitations &amp; Motivation</vt:lpstr>
      <vt:lpstr>Introduction - Limitations &amp; Motivation</vt:lpstr>
      <vt:lpstr>Introduction - Limitations &amp; Motivation</vt:lpstr>
      <vt:lpstr>Introduction - Limitations &amp; Motivation</vt:lpstr>
      <vt:lpstr>Introduction - GMSA</vt:lpstr>
      <vt:lpstr>Introduction - GMSA</vt:lpstr>
      <vt:lpstr>Introduction - GMSA</vt:lpstr>
      <vt:lpstr>Introduction - GMSA</vt:lpstr>
      <vt:lpstr>Method - Training Paradigm</vt:lpstr>
      <vt:lpstr>Result and Analysis - Impact of Different Layers of LSA</vt:lpstr>
      <vt:lpstr>Result and Analysis - Context Restoration</vt:lpstr>
      <vt:lpstr>Result and Analysis - Downstream Tasks</vt:lpstr>
      <vt:lpstr>Result and Analysis - Ablation Study and Stress Test</vt:lpstr>
      <vt:lpstr>Result and Analysis - Training Loss Comparison</vt:lpstr>
      <vt:lpstr>Result and Analysis - Latency Evaluation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a25499</cp:lastModifiedBy>
  <cp:revision>1638</cp:revision>
  <cp:lastPrinted>2026-06-01T05:52:49Z</cp:lastPrinted>
  <dcterms:created xsi:type="dcterms:W3CDTF">2026-06-01T05:52:49Z</dcterms:created>
  <dcterms:modified xsi:type="dcterms:W3CDTF">2026-06-28T03:45:47Z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FFB0724C3102E2623CF00F6AEBD7BBAE_42</vt:lpwstr>
  </property>
  <property fmtid="{D5CDD505-2E9C-101B-9397-08002B2CF9AE}" pid="3" name="KSOProductBuildVer">
    <vt:lpwstr>2052-7.5.1.8994</vt:lpwstr>
  </property>
</Properties>
</file>